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这份汇报介绍的是子宫超声辅助诊断系统，一个面向医院妇科超声场景的多模态 AI 辅助工具。它的定位不是替代医生，而是在真实检查流程中，把超声图像、检查文字、患者级聚合结果和可解释材料组织成一个可复核的闭环。接下来我会从临床目标、系统能力、模型架构、工程部署和使用边界几个层面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的核心目标，是从单张影像的模型判断，走向患者级的辅助决策。真实超声检查通常包含多张切面图像，也包含检查方式和检查所见这些文本上下文，所以系统需要同时处理图像、文本和多图聚合。更重要的是，AI 输出必须能够被医生复核，因此 Grad-CAM、PDF 报告、历史记录和医生判断入口都是产品闭环的一部分。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价值来自模型能力和工作流能力的组合，而不是单一分类器。单例推理覆盖医生现场上传和患者级结果，批量推理覆盖后台成批分析，结果解释提供逐图预测和热力图，病例与报告负责留档和沟通，管理保障则处理认证、审计、指标和备份。五类能力围绕患者级闭环协同工作，才适合进入院内使用流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V2 模型采用图像主导的多模态融合架构。图像侧使用 EfficientNet-B3，把 300 乘 300 的 RGB 图像编码成 1536 维特征；文本侧使用阿里医学 BERT，用 CLS 向量表示检查方式和检查所见。随后 ImageDominantGatedFusion 以图像为主导融合文本上下文，再通过 512 到 256 到 3 的分类器输出正常、子宫内膜癌和息肉三类概率。当前训练规模为一万余例患者和约十九万六千张图像，推理使用 Fold 3 的 EMA 权重。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单例推理的设计重点是让医生现场操作不被长请求卡住。医生填写病例编号、选择检查方式、上传一到三十张图像，可选填写检查所见；提交后系统使用 idempotency_key 避免重复病例，并立即返回 task_id。前端持续轮询 queued、running 和 done 等状态，后台逐图推理并聚合为患者级结果。最终页面展示概率分布、逐图预测、Grad-CAM、医生判断入口和报告入口。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批量推理解决的是后台成批患者分析的问题，但它不能影响医生的即时操作。批量任务通过 ZIP 和 manifest.csv 上传，系统按患者目录拆分，再生成逐图任务和患者级汇总。队列层采用优先级机制，单例任务 priority 等于零，批量任务 priority 等于五，因此现场单例请求可以优先进入模型 worker。这样既能跑批量，又不会让临床交互被后台任务阻塞。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系统输出需要能被医生理解和复核，所以结果呈现分为预测、解释和报告三个层次。预测层给出患者级三分类概率，解释层保留每张图的预测结果和 Grad-CAM 热力图，报告层生成中文 PDF 便于归档和沟通。这里的关键原则是，模型结果只是风险提示和复核参考，医生判断和临床流程仍然是最终依据。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工程架构围绕可部署、可追踪和可恢复设计。前端使用 React、TypeScript 和 Vite，负责单例、批量、历史和管理界面；后端使用 FastAPI、SQLAlchemy 和 SQLite WAL，负责 API、认证、审计和静态服务。推理队列通过 priority heap 和单 worker 串行调用模型，模型服务基于 PyTorch CPU、EfficientNet-B3 和医学 BERT。存储层包括 SQLite、uploads、gradcam 等目录，运维层通过结构化日志、request_id、健康检查和指标接口来支撑排查。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生产部署要重点关注资源、时延和恢复能力。推荐配置是八核以上 CPU、十六 GB 内存和两百 GB SSD，最低配置可以是四核、八 GB 和五十 GB。模型加载大约需要两 GB 内存，CPU 推理约一点二秒每张图。部署上，Linux 推荐 systemd，Windows 可以使用 NSSM；生产环境建议加 Nginx HTTPS，并开启 COOKIE_SECURE、HSTS 等安全配置。备份方面，系统通过 SQLite 热备和 uploads 增量 rsync 保留三十天，并建议定期做恢复演练。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临床系统上线后，安全网比功能列表更重要。认证侧使用 bcrypt、HttpOnly、SameSite、失败锁定和强制改密；审计侧记录登录、登出、创建病例和用户管理等关键操作，并支持 CSV 导出；可观测侧通过 structlog JSON、request_id、健康检查和指标接口定位问题；恢复侧依赖 backup.sh、runbook 和定期恢复演练。这样系统不仅能推理，也能在出问题时被解释和恢复。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这套系统必须始终明确自己的边界：AI 输出是风险提示，不是最终诊断结论。产品文案和演示材料都应该使用“预测概率”“风险提示”“复核参考”这样的表达，避免“确诊”“替代医生”“自动诊断”等绝对化措辞。最终诊断仍依赖医生判断、病理结果和完整临床流程，同时需要持续监控数据漂移、异常病例和模型误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续演进建议从可用系统走向可验证、可集成和可持续改进。近期重点是真实病例验证、界面细节、报告模板和部署文档；中期重点是接入院内账号、影像系统或数据归档流程，让系统更顺滑地进入医院环境；长期则要建立模型版本治理、质控面板，并考虑更多病种或多中心验证。真正的交付终点，是让 AI 能力稳定进入临床流程。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800100" y="400050"/>
            <a:ext cx="10534650" cy="5524500"/>
            <a:chOff x="800100" y="400050"/>
            <a:chExt cx="10534650" cy="5524500"/>
          </a:xfrm>
        </p:grpSpPr>
        <p:sp>
          <p:nvSpPr>
            <p:cNvPr id="3" name="Freeform 3"/>
            <p:cNvSpPr/>
            <p:nvPr/>
          </p:nvSpPr>
          <p:spPr>
            <a:xfrm>
              <a:off x="800100" y="400050"/>
              <a:ext cx="9944100" cy="1543050"/>
            </a:xfrm>
            <a:custGeom>
              <a:avLst/>
              <a:gdLst/>
              <a:ahLst/>
              <a:cxnLst/>
              <a:rect l="l" t="t" r="r" b="b"/>
              <a:pathLst>
                <a:path w="9944100" h="1543050">
                  <a:moveTo>
                    <a:pt x="0" y="723900"/>
                  </a:moveTo>
                  <a:cubicBezTo>
                    <a:pt x="952500" y="381000"/>
                    <a:pt x="1790700" y="419100"/>
                    <a:pt x="2667000" y="914400"/>
                  </a:cubicBezTo>
                  <a:cubicBezTo>
                    <a:pt x="3543300" y="1409700"/>
                    <a:pt x="4572000" y="1543050"/>
                    <a:pt x="5638800" y="800100"/>
                  </a:cubicBezTo>
                  <a:cubicBezTo>
                    <a:pt x="6705600" y="57150"/>
                    <a:pt x="7867650" y="0"/>
                    <a:pt x="9944100" y="704850"/>
                  </a:cubicBezTo>
                </a:path>
              </a:pathLst>
            </a:custGeom>
            <a:noFill/>
            <a:ln w="14288">
              <a:solidFill>
                <a:srgbClr val="D8D6CC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562100" y="3848100"/>
              <a:ext cx="9772650" cy="2076450"/>
            </a:xfrm>
            <a:custGeom>
              <a:avLst/>
              <a:gdLst/>
              <a:ahLst/>
              <a:cxnLst/>
              <a:rect l="l" t="t" r="r" b="b"/>
              <a:pathLst>
                <a:path w="9772650" h="2076450">
                  <a:moveTo>
                    <a:pt x="0" y="1733550"/>
                  </a:moveTo>
                  <a:cubicBezTo>
                    <a:pt x="1352550" y="1066800"/>
                    <a:pt x="2609850" y="2076450"/>
                    <a:pt x="3657600" y="1371600"/>
                  </a:cubicBezTo>
                  <a:cubicBezTo>
                    <a:pt x="4705350" y="666750"/>
                    <a:pt x="5276850" y="0"/>
                    <a:pt x="6629400" y="781050"/>
                  </a:cubicBezTo>
                  <a:cubicBezTo>
                    <a:pt x="7981950" y="1562100"/>
                    <a:pt x="8496300" y="1905000"/>
                    <a:pt x="9772650" y="1162050"/>
                  </a:cubicBezTo>
                </a:path>
              </a:pathLst>
            </a:custGeom>
            <a:noFill/>
            <a:ln w="14288">
              <a:solidFill>
                <a:srgbClr val="D8D6CC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086850" y="609600"/>
              <a:ext cx="2019300" cy="2019300"/>
            </a:xfrm>
            <a:prstGeom prst="ellipse">
              <a:avLst/>
            </a:prstGeom>
            <a:solidFill>
              <a:srgbClr val="E6F3F0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429750" y="952500"/>
              <a:ext cx="1333500" cy="1333500"/>
            </a:xfrm>
            <a:prstGeom prst="ellipse">
              <a:avLst/>
            </a:prstGeom>
            <a:solidFill>
              <a:srgbClr val="F7F6F0"/>
            </a:solidFill>
            <a:ln w="19050">
              <a:solidFill>
                <a:srgbClr val="00796B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667875" y="1190625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428625"/>
                  </a:moveTo>
                  <a:lnTo>
                    <a:pt x="857250" y="428625"/>
                  </a:lnTo>
                  <a:moveTo>
                    <a:pt x="428625" y="0"/>
                  </a:moveTo>
                  <a:lnTo>
                    <a:pt x="428625" y="857250"/>
                  </a:lnTo>
                </a:path>
              </a:pathLst>
            </a:custGeom>
            <a:solidFill>
              <a:srgbClr val="000000"/>
            </a:solidFill>
            <a:ln w="47625" cap="rnd">
              <a:solidFill>
                <a:srgbClr val="00796B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47800" y="4095750"/>
              <a:ext cx="1485900" cy="1485900"/>
            </a:xfrm>
            <a:prstGeom prst="ellipse">
              <a:avLst/>
            </a:prstGeom>
            <a:solidFill>
              <a:srgbClr val="FCEDE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828800" y="4476750"/>
              <a:ext cx="666750" cy="723900"/>
            </a:xfrm>
            <a:custGeom>
              <a:avLst/>
              <a:gdLst/>
              <a:ahLst/>
              <a:cxnLst/>
              <a:rect l="l" t="t" r="r" b="b"/>
              <a:pathLst>
                <a:path w="666750" h="723900">
                  <a:moveTo>
                    <a:pt x="0" y="361950"/>
                  </a:moveTo>
                  <a:cubicBezTo>
                    <a:pt x="171450" y="0"/>
                    <a:pt x="495300" y="0"/>
                    <a:pt x="666750" y="361950"/>
                  </a:cubicBezTo>
                  <a:cubicBezTo>
                    <a:pt x="495300" y="723900"/>
                    <a:pt x="171450" y="723900"/>
                    <a:pt x="0" y="361950"/>
                  </a:cubicBezTo>
                  <a:close/>
                </a:path>
              </a:pathLst>
            </a:custGeom>
            <a:noFill/>
            <a:ln w="28575">
              <a:solidFill>
                <a:srgbClr val="C15F3C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2076450" y="4752975"/>
              <a:ext cx="171450" cy="171450"/>
            </a:xfrm>
            <a:prstGeom prst="ellipse">
              <a:avLst/>
            </a:prstGeom>
            <a:solidFill>
              <a:srgbClr val="C15F3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476750" y="1752600"/>
              <a:ext cx="2133600" cy="1028700"/>
            </a:xfrm>
            <a:custGeom>
              <a:avLst/>
              <a:gdLst/>
              <a:ahLst/>
              <a:cxnLst/>
              <a:rect l="l" t="t" r="r" b="b"/>
              <a:pathLst>
                <a:path w="2133600" h="1028700">
                  <a:moveTo>
                    <a:pt x="0" y="361950"/>
                  </a:moveTo>
                  <a:lnTo>
                    <a:pt x="514350" y="361950"/>
                  </a:lnTo>
                  <a:lnTo>
                    <a:pt x="714375" y="0"/>
                  </a:lnTo>
                  <a:lnTo>
                    <a:pt x="1085850" y="1028700"/>
                  </a:lnTo>
                  <a:lnTo>
                    <a:pt x="1457325" y="361950"/>
                  </a:lnTo>
                  <a:lnTo>
                    <a:pt x="2133600" y="361950"/>
                  </a:lnTo>
                </a:path>
              </a:pathLst>
            </a:custGeom>
            <a:noFill/>
            <a:ln w="38100" cap="rnd">
              <a:solidFill>
                <a:srgbClr val="00796B"/>
              </a:solidFill>
              <a:round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353866" y="2290762"/>
            <a:ext cx="7484269" cy="1590676"/>
            <a:chOff x="2353866" y="2290762"/>
            <a:chExt cx="7484269" cy="1590676"/>
          </a:xfrm>
        </p:grpSpPr>
        <p:sp>
          <p:nvSpPr>
            <p:cNvPr id="13" name="TextBox 13"/>
            <p:cNvSpPr txBox="1"/>
            <p:nvPr/>
          </p:nvSpPr>
          <p:spPr>
            <a:xfrm>
              <a:off x="2353866" y="2290762"/>
              <a:ext cx="7484269" cy="1066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子宫超声辅助诊断系统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857625" y="3143250"/>
              <a:ext cx="4476750" cy="381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22354" y="3485198"/>
              <a:ext cx="61472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多模态 AI 支撑妇科超声的患者级风险提示与复核闭环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57700" y="4305300"/>
            <a:ext cx="3276600" cy="495300"/>
            <a:chOff x="4457700" y="4305300"/>
            <a:chExt cx="3276600" cy="495300"/>
          </a:xfrm>
        </p:grpSpPr>
        <p:sp>
          <p:nvSpPr>
            <p:cNvPr id="17" name="Rectangle 17"/>
            <p:cNvSpPr/>
            <p:nvPr/>
          </p:nvSpPr>
          <p:spPr>
            <a:xfrm>
              <a:off x="4457700" y="4305300"/>
              <a:ext cx="3276600" cy="495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772025" y="4467225"/>
              <a:ext cx="180975" cy="171450"/>
              <a:chOff x="4772025" y="4467225"/>
              <a:chExt cx="180975" cy="1714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772025" y="447675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28575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52388"/>
                    </a:lnTo>
                    <a:cubicBezTo>
                      <a:pt x="0" y="81320"/>
                      <a:pt x="23455" y="104775"/>
                      <a:pt x="52388" y="104775"/>
                    </a:cubicBezTo>
                    <a:cubicBezTo>
                      <a:pt x="81320" y="104775"/>
                      <a:pt x="104775" y="81320"/>
                      <a:pt x="104775" y="52388"/>
                    </a:cubicBezTo>
                    <a:lnTo>
                      <a:pt x="104775" y="19050"/>
                    </a:lnTo>
                    <a:cubicBezTo>
                      <a:pt x="104775" y="8529"/>
                      <a:pt x="96246" y="0"/>
                      <a:pt x="85725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819650" y="4552950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0" y="28575"/>
                    </a:moveTo>
                    <a:cubicBezTo>
                      <a:pt x="0" y="60138"/>
                      <a:pt x="25587" y="85725"/>
                      <a:pt x="57150" y="85725"/>
                    </a:cubicBezTo>
                    <a:cubicBezTo>
                      <a:pt x="88713" y="85725"/>
                      <a:pt x="114300" y="60138"/>
                      <a:pt x="114300" y="28575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848225" y="44672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800600" y="44672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914900" y="45148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090160" y="4490085"/>
              <a:ext cx="1734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项目汇报 · 2026-06-10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26" name="TextBox 26"/>
            <p:cNvSpPr txBox="1"/>
            <p:nvPr/>
          </p:nvSpPr>
          <p:spPr>
            <a:xfrm>
              <a:off x="521970" y="6379845"/>
              <a:ext cx="23931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AI-assisted uterine ultrasound diagnosis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9110" y="375285"/>
            <a:ext cx="6495383" cy="741521"/>
            <a:chOff x="499110" y="375285"/>
            <a:chExt cx="6495383" cy="741521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375285"/>
              <a:ext cx="64953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从单张影像判断，走向患者级辅助决策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112" y="888206"/>
              <a:ext cx="58793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系统目标不是替代医生，而是把多图、多文本、可解释和可追溯能力接入真实超声流程。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219200"/>
            <a:ext cx="11125200" cy="514350"/>
            <a:chOff x="533400" y="1219200"/>
            <a:chExt cx="11125200" cy="514350"/>
          </a:xfrm>
        </p:grpSpPr>
        <p:sp>
          <p:nvSpPr>
            <p:cNvPr id="6" name="Rectangle 6"/>
            <p:cNvSpPr/>
            <p:nvPr/>
          </p:nvSpPr>
          <p:spPr>
            <a:xfrm>
              <a:off x="533400" y="121920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6F3F0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71525" y="1390650"/>
              <a:ext cx="171450" cy="171450"/>
              <a:chOff x="771525" y="1390650"/>
              <a:chExt cx="171450" cy="1714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47725" y="146685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09625" y="14287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71525" y="139065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087755" y="1397318"/>
              <a:ext cx="59480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把 AI 输出定位为“预测概率 + 风险提示 + 复核参考”，服务医生最终判断。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3400" y="2114550"/>
            <a:ext cx="5219700" cy="3371850"/>
            <a:chOff x="533400" y="2114550"/>
            <a:chExt cx="5219700" cy="3371850"/>
          </a:xfrm>
        </p:grpSpPr>
        <p:sp>
          <p:nvSpPr>
            <p:cNvPr id="13" name="Rectangle 13"/>
            <p:cNvSpPr/>
            <p:nvPr/>
          </p:nvSpPr>
          <p:spPr>
            <a:xfrm>
              <a:off x="533400" y="2114550"/>
              <a:ext cx="5219700" cy="3371850"/>
            </a:xfrm>
            <a:prstGeom prst="roundRect">
              <a:avLst>
                <a:gd name="adj" fmla="val 4520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114550"/>
              <a:ext cx="5219700" cy="609600"/>
            </a:xfrm>
            <a:prstGeom prst="roundRect">
              <a:avLst>
                <a:gd name="adj" fmla="val 25000"/>
              </a:avLst>
            </a:prstGeom>
            <a:solidFill>
              <a:srgbClr val="EFEDE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3435" y="229457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临床现实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5100638" y="2319338"/>
              <a:ext cx="211137" cy="200024"/>
              <a:chOff x="5100638" y="2319338"/>
              <a:chExt cx="211137" cy="20002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100638" y="2330450"/>
                <a:ext cx="12223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22238">
                    <a:moveTo>
                      <a:pt x="33338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61119"/>
                    </a:lnTo>
                    <a:cubicBezTo>
                      <a:pt x="0" y="94874"/>
                      <a:pt x="27364" y="122238"/>
                      <a:pt x="61119" y="122238"/>
                    </a:cubicBezTo>
                    <a:cubicBezTo>
                      <a:pt x="94874" y="122238"/>
                      <a:pt x="122238" y="94874"/>
                      <a:pt x="122238" y="61119"/>
                    </a:cubicBezTo>
                    <a:lnTo>
                      <a:pt x="122238" y="22225"/>
                    </a:lnTo>
                    <a:cubicBezTo>
                      <a:pt x="122238" y="9950"/>
                      <a:pt x="112287" y="0"/>
                      <a:pt x="100012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156200" y="2419350"/>
                <a:ext cx="1333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00012">
                    <a:moveTo>
                      <a:pt x="0" y="33338"/>
                    </a:moveTo>
                    <a:cubicBezTo>
                      <a:pt x="0" y="70161"/>
                      <a:pt x="29851" y="100012"/>
                      <a:pt x="66675" y="100012"/>
                    </a:cubicBezTo>
                    <a:cubicBezTo>
                      <a:pt x="103499" y="100012"/>
                      <a:pt x="133350" y="70161"/>
                      <a:pt x="133350" y="33338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189538" y="23193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133975" y="23193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267325" y="23749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752475" y="3019425"/>
              <a:ext cx="4002405" cy="552450"/>
              <a:chOff x="752475" y="3019425"/>
              <a:chExt cx="4002405" cy="55245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52475" y="3038475"/>
                <a:ext cx="323850" cy="323850"/>
              </a:xfrm>
              <a:prstGeom prst="ellipse">
                <a:avLst/>
              </a:prstGeom>
              <a:solidFill>
                <a:srgbClr val="E6F3F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45274" y="31213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0796B"/>
                    </a:solidFill>
                    <a:latin typeface="Georgia"/>
                    <a:ea typeface="Microsoft YaHei"/>
                    <a:cs typeface="Georgia"/>
                  </a:rPr>
                  <a:t>1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00150" y="3019425"/>
                <a:ext cx="25584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多张切面共同构成判断依据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03960" y="3328035"/>
                <a:ext cx="35509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一个患者通常包含多张超声图像，而非单图结论。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52475" y="3895725"/>
              <a:ext cx="3362325" cy="552450"/>
              <a:chOff x="752475" y="3895725"/>
              <a:chExt cx="3362325" cy="55245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52475" y="3914775"/>
                <a:ext cx="323850" cy="323850"/>
              </a:xfrm>
              <a:prstGeom prst="ellipse">
                <a:avLst/>
              </a:prstGeom>
              <a:solidFill>
                <a:srgbClr val="E6F3F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45274" y="39976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0796B"/>
                    </a:solidFill>
                    <a:latin typeface="Georgia"/>
                    <a:ea typeface="Microsoft YaHei"/>
                    <a:cs typeface="Georgia"/>
                  </a:rPr>
                  <a:t>2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00150" y="389572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检查文字承载上下文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03960" y="4204335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检查方式与检查所见共同影响临床解释。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52475" y="4772025"/>
              <a:ext cx="3682365" cy="552450"/>
              <a:chOff x="752475" y="4772025"/>
              <a:chExt cx="3682365" cy="55245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752475" y="4791075"/>
                <a:ext cx="323850" cy="323850"/>
              </a:xfrm>
              <a:prstGeom prst="ellipse">
                <a:avLst/>
              </a:prstGeom>
              <a:solidFill>
                <a:srgbClr val="E6F3F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45274" y="48739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0796B"/>
                    </a:solidFill>
                    <a:latin typeface="Georgia"/>
                    <a:ea typeface="Microsoft YaHei"/>
                    <a:cs typeface="Georgia"/>
                  </a:rPr>
                  <a:t>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00150" y="4772025"/>
                <a:ext cx="234838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结果需要可复核与可追溯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203960" y="5080635"/>
                <a:ext cx="32308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热力图、报告和历史记录是进入流程的关键。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6438900" y="2114550"/>
            <a:ext cx="5219700" cy="3371850"/>
            <a:chOff x="6438900" y="2114550"/>
            <a:chExt cx="5219700" cy="3371850"/>
          </a:xfrm>
        </p:grpSpPr>
        <p:sp>
          <p:nvSpPr>
            <p:cNvPr id="38" name="Rectangle 38"/>
            <p:cNvSpPr/>
            <p:nvPr/>
          </p:nvSpPr>
          <p:spPr>
            <a:xfrm>
              <a:off x="6438900" y="2114550"/>
              <a:ext cx="5219700" cy="3371850"/>
            </a:xfrm>
            <a:prstGeom prst="roundRect">
              <a:avLst>
                <a:gd name="adj" fmla="val 4520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38900" y="2114550"/>
              <a:ext cx="5219700" cy="609600"/>
            </a:xfrm>
            <a:prstGeom prst="roundRect">
              <a:avLst>
                <a:gd name="adj" fmla="val 25000"/>
              </a:avLst>
            </a:prstGeom>
            <a:solidFill>
              <a:srgbClr val="FCEDE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18935" y="229457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系统目标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1006138" y="2319338"/>
              <a:ext cx="200024" cy="200024"/>
              <a:chOff x="11006138" y="2319338"/>
              <a:chExt cx="200024" cy="20002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11006138" y="24749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161712" y="23193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028362" y="2341562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4" y="155575"/>
                      <a:pt x="166688" y="138162"/>
                      <a:pt x="166688" y="116681"/>
                    </a:cubicBezTo>
                    <a:cubicBezTo>
                      <a:pt x="166688" y="95201"/>
                      <a:pt x="149274" y="77787"/>
                      <a:pt x="127794" y="77787"/>
                    </a:cubicBezTo>
                    <a:lnTo>
                      <a:pt x="38894" y="77787"/>
                    </a:lnTo>
                    <a:cubicBezTo>
                      <a:pt x="17413" y="77787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6896100" y="3143250"/>
              <a:ext cx="3486150" cy="1905000"/>
              <a:chOff x="6896100" y="3143250"/>
              <a:chExt cx="3486150" cy="1905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896100" y="3143250"/>
                <a:ext cx="1352550" cy="609600"/>
              </a:xfrm>
              <a:prstGeom prst="roundRect">
                <a:avLst>
                  <a:gd name="adj" fmla="val 21875"/>
                </a:avLst>
              </a:prstGeom>
              <a:solidFill>
                <a:srgbClr val="E6F3F0"/>
              </a:solidFill>
              <a:ln w="9525">
                <a:solidFill>
                  <a:srgbClr val="D8D6CC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366206" y="3368992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0796B"/>
                    </a:solidFill>
                    <a:latin typeface="Arial"/>
                    <a:ea typeface="Microsoft YaHei"/>
                    <a:cs typeface="Arial"/>
                  </a:rPr>
                  <a:t>输入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8324850" y="3448050"/>
                <a:ext cx="609600" cy="1"/>
              </a:xfrm>
              <a:prstGeom prst="line">
                <a:avLst/>
              </a:prstGeom>
              <a:noFill/>
              <a:ln w="23812">
                <a:solidFill>
                  <a:srgbClr val="00796B"/>
                </a:solidFill>
                <a:tailEnd type="triangle" w="lg" len="lg"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9029700" y="3143250"/>
                <a:ext cx="1352550" cy="609600"/>
              </a:xfrm>
              <a:prstGeom prst="roundRect">
                <a:avLst>
                  <a:gd name="adj" fmla="val 21875"/>
                </a:avLst>
              </a:prstGeom>
              <a:solidFill>
                <a:srgbClr val="E6F1FB"/>
              </a:solidFill>
              <a:ln w="9525">
                <a:solidFill>
                  <a:srgbClr val="D8D6CC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9499806" y="3368992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F7C95"/>
                    </a:solidFill>
                    <a:latin typeface="Arial"/>
                    <a:ea typeface="Microsoft YaHei"/>
                    <a:cs typeface="Arial"/>
                  </a:rPr>
                  <a:t>推理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9705975" y="3829050"/>
                <a:ext cx="1" cy="514350"/>
              </a:xfrm>
              <a:prstGeom prst="line">
                <a:avLst/>
              </a:prstGeom>
              <a:noFill/>
              <a:ln w="23812">
                <a:solidFill>
                  <a:srgbClr val="00796B"/>
                </a:solidFill>
                <a:tailEnd type="triangle" w="lg" len="lg"/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9029700" y="4438650"/>
                <a:ext cx="1352550" cy="609600"/>
              </a:xfrm>
              <a:prstGeom prst="roundRect">
                <a:avLst>
                  <a:gd name="adj" fmla="val 21875"/>
                </a:avLst>
              </a:prstGeom>
              <a:solidFill>
                <a:srgbClr val="FCEDE8"/>
              </a:solidFill>
              <a:ln w="9525">
                <a:solidFill>
                  <a:srgbClr val="D8D6CC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499806" y="4664392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15F3C"/>
                    </a:solidFill>
                    <a:latin typeface="Arial"/>
                    <a:ea typeface="Microsoft YaHei"/>
                    <a:cs typeface="Arial"/>
                  </a:rPr>
                  <a:t>复核</a:t>
                </a:r>
              </a:p>
            </p:txBody>
          </p:sp>
          <p:sp>
            <p:nvSpPr>
              <p:cNvPr id="53" name="Line 53"/>
              <p:cNvSpPr/>
              <p:nvPr/>
            </p:nvSpPr>
            <p:spPr>
              <a:xfrm flipH="1">
                <a:off x="8324850" y="4743450"/>
                <a:ext cx="609600" cy="1"/>
              </a:xfrm>
              <a:prstGeom prst="line">
                <a:avLst/>
              </a:prstGeom>
              <a:noFill/>
              <a:ln w="23812">
                <a:solidFill>
                  <a:srgbClr val="00796B"/>
                </a:solidFill>
                <a:tailEnd type="triangle" w="lg" len="lg"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6896100" y="4438650"/>
                <a:ext cx="1352550" cy="609600"/>
              </a:xfrm>
              <a:prstGeom prst="roundRect">
                <a:avLst>
                  <a:gd name="adj" fmla="val 21875"/>
                </a:avLst>
              </a:prstGeom>
              <a:solidFill>
                <a:srgbClr val="FFFFFF"/>
              </a:solidFill>
              <a:ln w="9525">
                <a:solidFill>
                  <a:srgbClr val="D8D6CC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366206" y="4664392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归档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21970" y="6379845"/>
              <a:ext cx="30172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Source: project README and local codebase analysis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7" grpId="0"/>
      <p:bldP spid="5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375285"/>
            <a:ext cx="8801471" cy="932021"/>
            <a:chOff x="499110" y="375285"/>
            <a:chExt cx="8801471" cy="932021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375285"/>
              <a:ext cx="88014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一个系统覆盖“上传、推理、解释、报告、运维”闭环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895350"/>
              <a:ext cx="6858000" cy="19050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19112" y="1078706"/>
              <a:ext cx="43791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项目价值来自模型能力与临床工作流的结合，而不是单一分类器。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81550" y="2286000"/>
            <a:ext cx="2628900" cy="2628900"/>
            <a:chOff x="4781550" y="2286000"/>
            <a:chExt cx="2628900" cy="2628900"/>
          </a:xfrm>
        </p:grpSpPr>
        <p:sp>
          <p:nvSpPr>
            <p:cNvPr id="7" name="Ellipse 7"/>
            <p:cNvSpPr/>
            <p:nvPr/>
          </p:nvSpPr>
          <p:spPr>
            <a:xfrm>
              <a:off x="4781550" y="2286000"/>
              <a:ext cx="2628900" cy="26289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D8D6CC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5124450" y="2628900"/>
              <a:ext cx="1943100" cy="1943100"/>
            </a:xfrm>
            <a:prstGeom prst="ellipse">
              <a:avLst/>
            </a:prstGeom>
            <a:solidFill>
              <a:srgbClr val="E6F3F0"/>
            </a:solidFill>
            <a:ln w="19050">
              <a:solidFill>
                <a:srgbClr val="00796B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5881688" y="2995612"/>
              <a:ext cx="428624" cy="428626"/>
              <a:chOff x="5881688" y="2995612"/>
              <a:chExt cx="428624" cy="42862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881688" y="3328988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215062" y="2995612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95250"/>
                    </a:move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73928"/>
                      <a:pt x="21322" y="95250"/>
                      <a:pt x="47625" y="95250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29312" y="3043238"/>
                <a:ext cx="357188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57188" h="333375">
                    <a:moveTo>
                      <a:pt x="142875" y="333375"/>
                    </a:moveTo>
                    <a:lnTo>
                      <a:pt x="273844" y="333375"/>
                    </a:lnTo>
                    <a:cubicBezTo>
                      <a:pt x="319873" y="333375"/>
                      <a:pt x="357188" y="296061"/>
                      <a:pt x="357188" y="250031"/>
                    </a:cubicBezTo>
                    <a:cubicBezTo>
                      <a:pt x="357188" y="204002"/>
                      <a:pt x="319873" y="166688"/>
                      <a:pt x="273844" y="166688"/>
                    </a:cubicBezTo>
                    <a:lnTo>
                      <a:pt x="83344" y="166688"/>
                    </a:lnTo>
                    <a:cubicBezTo>
                      <a:pt x="37314" y="166688"/>
                      <a:pt x="0" y="129373"/>
                      <a:pt x="0" y="83344"/>
                    </a:cubicBezTo>
                    <a:cubicBezTo>
                      <a:pt x="0" y="37314"/>
                      <a:pt x="37314" y="0"/>
                      <a:pt x="83344" y="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5279827" y="3624262"/>
              <a:ext cx="16323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患者级闭环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12614" y="4042410"/>
              <a:ext cx="2366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输入 → 推理 → 解释 → 报告 → 复核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29000" y="1714500"/>
            <a:ext cx="5353050" cy="3314700"/>
            <a:chOff x="3429000" y="1714500"/>
            <a:chExt cx="5353050" cy="3314700"/>
          </a:xfrm>
        </p:grpSpPr>
        <p:sp>
          <p:nvSpPr>
            <p:cNvPr id="16" name="Line 16"/>
            <p:cNvSpPr/>
            <p:nvPr/>
          </p:nvSpPr>
          <p:spPr>
            <a:xfrm>
              <a:off x="3429000" y="2362200"/>
              <a:ext cx="1524000" cy="819150"/>
            </a:xfrm>
            <a:custGeom>
              <a:avLst/>
              <a:gdLst/>
              <a:ahLst/>
              <a:cxnLst/>
              <a:rect l="l" t="t" r="r" b="b"/>
              <a:pathLst>
                <a:path w="1524000" h="819150">
                  <a:moveTo>
                    <a:pt x="1524000" y="819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8D6CC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0" y="1714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571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8D6CC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239000" y="2362200"/>
              <a:ext cx="1543050" cy="819150"/>
            </a:xfrm>
            <a:custGeom>
              <a:avLst/>
              <a:gdLst/>
              <a:ahLst/>
              <a:cxnLst/>
              <a:rect l="l" t="t" r="r" b="b"/>
              <a:pathLst>
                <a:path w="1543050" h="819150">
                  <a:moveTo>
                    <a:pt x="0" y="819150"/>
                  </a:moveTo>
                  <a:lnTo>
                    <a:pt x="1543050" y="0"/>
                  </a:lnTo>
                </a:path>
              </a:pathLst>
            </a:custGeom>
            <a:noFill/>
            <a:ln w="19050">
              <a:solidFill>
                <a:srgbClr val="D8D6CC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562350" y="4324350"/>
              <a:ext cx="1562100" cy="704850"/>
            </a:xfrm>
            <a:custGeom>
              <a:avLst/>
              <a:gdLst/>
              <a:ahLst/>
              <a:cxnLst/>
              <a:rect l="l" t="t" r="r" b="b"/>
              <a:pathLst>
                <a:path w="1562100" h="704850">
                  <a:moveTo>
                    <a:pt x="1562100" y="0"/>
                  </a:moveTo>
                  <a:lnTo>
                    <a:pt x="0" y="704850"/>
                  </a:lnTo>
                </a:path>
              </a:pathLst>
            </a:custGeom>
            <a:noFill/>
            <a:ln w="19050">
              <a:solidFill>
                <a:srgbClr val="D8D6CC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067550" y="4324350"/>
              <a:ext cx="1562100" cy="704850"/>
            </a:xfrm>
            <a:custGeom>
              <a:avLst/>
              <a:gdLst/>
              <a:ahLst/>
              <a:cxnLst/>
              <a:rect l="l" t="t" r="r" b="b"/>
              <a:pathLst>
                <a:path w="1562100" h="704850">
                  <a:moveTo>
                    <a:pt x="0" y="0"/>
                  </a:moveTo>
                  <a:lnTo>
                    <a:pt x="1562100" y="704850"/>
                  </a:lnTo>
                </a:path>
              </a:pathLst>
            </a:custGeom>
            <a:noFill/>
            <a:ln w="19050">
              <a:solidFill>
                <a:srgbClr val="D8D6CC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43000" y="1714500"/>
            <a:ext cx="2857500" cy="1200150"/>
            <a:chOff x="1143000" y="1714500"/>
            <a:chExt cx="2857500" cy="1200150"/>
          </a:xfrm>
        </p:grpSpPr>
        <p:sp>
          <p:nvSpPr>
            <p:cNvPr id="22" name="Rectangle 22"/>
            <p:cNvSpPr/>
            <p:nvPr/>
          </p:nvSpPr>
          <p:spPr>
            <a:xfrm>
              <a:off x="1143000" y="1714500"/>
              <a:ext cx="2857500" cy="1200150"/>
            </a:xfrm>
            <a:prstGeom prst="roundRect">
              <a:avLst>
                <a:gd name="adj" fmla="val 12698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431131" y="2002631"/>
              <a:ext cx="256382" cy="242888"/>
              <a:chOff x="1431131" y="2002631"/>
              <a:chExt cx="256382" cy="24288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431131" y="2016125"/>
                <a:ext cx="148431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148431" h="148431">
                    <a:moveTo>
                      <a:pt x="40481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74216"/>
                    </a:lnTo>
                    <a:cubicBezTo>
                      <a:pt x="0" y="115204"/>
                      <a:pt x="33227" y="148431"/>
                      <a:pt x="74216" y="148431"/>
                    </a:cubicBezTo>
                    <a:cubicBezTo>
                      <a:pt x="115204" y="148431"/>
                      <a:pt x="148431" y="115204"/>
                      <a:pt x="148431" y="74216"/>
                    </a:cubicBezTo>
                    <a:lnTo>
                      <a:pt x="148431" y="26988"/>
                    </a:lnTo>
                    <a:cubicBezTo>
                      <a:pt x="148431" y="12083"/>
                      <a:pt x="136349" y="0"/>
                      <a:pt x="121444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498600" y="2124075"/>
                <a:ext cx="1619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21444">
                    <a:moveTo>
                      <a:pt x="0" y="40481"/>
                    </a:moveTo>
                    <a:cubicBezTo>
                      <a:pt x="0" y="85196"/>
                      <a:pt x="36248" y="121444"/>
                      <a:pt x="80962" y="121444"/>
                    </a:cubicBezTo>
                    <a:cubicBezTo>
                      <a:pt x="125677" y="121444"/>
                      <a:pt x="161925" y="85196"/>
                      <a:pt x="161925" y="40481"/>
                    </a:cubicBez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539081" y="20026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471612" y="20026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633538" y="20701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846898" y="19826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单例推理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52612" y="2326481"/>
              <a:ext cx="1776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1-30 张图像 · 患者级聚合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90650" y="2628900"/>
              <a:ext cx="2095500" cy="19050"/>
            </a:xfrm>
            <a:prstGeom prst="rect">
              <a:avLst/>
            </a:prstGeom>
            <a:solidFill>
              <a:srgbClr val="E6F3F0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4667250" y="1143000"/>
            <a:ext cx="2875954" cy="1200150"/>
            <a:chOff x="4667250" y="1143000"/>
            <a:chExt cx="2875954" cy="1200150"/>
          </a:xfrm>
        </p:grpSpPr>
        <p:sp>
          <p:nvSpPr>
            <p:cNvPr id="33" name="Rectangle 33"/>
            <p:cNvSpPr/>
            <p:nvPr/>
          </p:nvSpPr>
          <p:spPr>
            <a:xfrm>
              <a:off x="4667250" y="1143000"/>
              <a:ext cx="2857500" cy="1200150"/>
            </a:xfrm>
            <a:prstGeom prst="roundRect">
              <a:avLst>
                <a:gd name="adj" fmla="val 12698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955381" y="1431131"/>
              <a:ext cx="242888" cy="242887"/>
              <a:chOff x="4955381" y="1431131"/>
              <a:chExt cx="242888" cy="24288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4982369" y="14311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955381" y="1593056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130800" y="1432885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157788" y="1595080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371148" y="14111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批量推理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76862" y="1754981"/>
              <a:ext cx="21663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ZIP + manifest.csv · 异步排队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14900" y="2057400"/>
              <a:ext cx="2095500" cy="19050"/>
            </a:xfrm>
            <a:prstGeom prst="rect">
              <a:avLst/>
            </a:prstGeom>
            <a:solidFill>
              <a:srgbClr val="E6F1FB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8191500" y="1714500"/>
            <a:ext cx="2857500" cy="1200150"/>
            <a:chOff x="8191500" y="1714500"/>
            <a:chExt cx="2857500" cy="1200150"/>
          </a:xfrm>
        </p:grpSpPr>
        <p:sp>
          <p:nvSpPr>
            <p:cNvPr id="43" name="Rectangle 43"/>
            <p:cNvSpPr/>
            <p:nvPr/>
          </p:nvSpPr>
          <p:spPr>
            <a:xfrm>
              <a:off x="8191500" y="1714500"/>
              <a:ext cx="2857500" cy="1200150"/>
            </a:xfrm>
            <a:prstGeom prst="roundRect">
              <a:avLst>
                <a:gd name="adj" fmla="val 12698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479631" y="2043112"/>
              <a:ext cx="242888" cy="161925"/>
            </a:xfrm>
            <a:custGeom>
              <a:avLst/>
              <a:gdLst/>
              <a:ahLst/>
              <a:cxnLst/>
              <a:rect l="l" t="t" r="r" b="b"/>
              <a:pathLst>
                <a:path w="242888" h="161925">
                  <a:moveTo>
                    <a:pt x="0" y="80962"/>
                  </a:moveTo>
                  <a:lnTo>
                    <a:pt x="60722" y="80962"/>
                  </a:lnTo>
                  <a:lnTo>
                    <a:pt x="80962" y="0"/>
                  </a:lnTo>
                  <a:lnTo>
                    <a:pt x="134937" y="161925"/>
                  </a:lnTo>
                  <a:lnTo>
                    <a:pt x="161925" y="40481"/>
                  </a:lnTo>
                  <a:lnTo>
                    <a:pt x="182166" y="80962"/>
                  </a:lnTo>
                  <a:lnTo>
                    <a:pt x="242888" y="80962"/>
                  </a:lnTo>
                </a:path>
              </a:pathLst>
            </a:custGeom>
            <a:noFill/>
            <a:ln w="19050">
              <a:solidFill>
                <a:srgbClr val="C15F3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95398" y="19826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结果解释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01112" y="2326481"/>
              <a:ext cx="1986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逐图预测 · Grad-CAM 热力图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439150" y="2628900"/>
              <a:ext cx="2095500" cy="19050"/>
            </a:xfrm>
            <a:prstGeom prst="rect">
              <a:avLst/>
            </a:prstGeom>
            <a:solidFill>
              <a:srgbClr val="FCEDE8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466850" y="4838700"/>
            <a:ext cx="2857500" cy="1200150"/>
            <a:chOff x="1466850" y="4838700"/>
            <a:chExt cx="2857500" cy="1200150"/>
          </a:xfrm>
        </p:grpSpPr>
        <p:sp>
          <p:nvSpPr>
            <p:cNvPr id="49" name="Rectangle 49"/>
            <p:cNvSpPr/>
            <p:nvPr/>
          </p:nvSpPr>
          <p:spPr>
            <a:xfrm>
              <a:off x="1466850" y="4838700"/>
              <a:ext cx="2857500" cy="1200150"/>
            </a:xfrm>
            <a:prstGeom prst="roundRect">
              <a:avLst>
                <a:gd name="adj" fmla="val 12698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1781969" y="5126831"/>
              <a:ext cx="188912" cy="242888"/>
              <a:chOff x="1781969" y="5126831"/>
              <a:chExt cx="188912" cy="242888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781969" y="5153819"/>
                <a:ext cx="188912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215900">
                    <a:moveTo>
                      <a:pt x="53975" y="0"/>
                    </a:moveTo>
                    <a:lnTo>
                      <a:pt x="26987" y="0"/>
                    </a:lnTo>
                    <a:cubicBezTo>
                      <a:pt x="12083" y="0"/>
                      <a:pt x="0" y="12083"/>
                      <a:pt x="0" y="26987"/>
                    </a:cubicBezTo>
                    <a:lnTo>
                      <a:pt x="0" y="188912"/>
                    </a:lnTo>
                    <a:cubicBezTo>
                      <a:pt x="0" y="203817"/>
                      <a:pt x="12083" y="215900"/>
                      <a:pt x="26987" y="215900"/>
                    </a:cubicBezTo>
                    <a:lnTo>
                      <a:pt x="161925" y="215900"/>
                    </a:lnTo>
                    <a:cubicBezTo>
                      <a:pt x="176830" y="215900"/>
                      <a:pt x="188912" y="203817"/>
                      <a:pt x="188912" y="188912"/>
                    </a:cubicBezTo>
                    <a:lnTo>
                      <a:pt x="188912" y="26987"/>
                    </a:lnTo>
                    <a:cubicBezTo>
                      <a:pt x="188912" y="12083"/>
                      <a:pt x="176830" y="0"/>
                      <a:pt x="161925" y="0"/>
                    </a:cubicBezTo>
                    <a:lnTo>
                      <a:pt x="134937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835944" y="5126831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2" y="12083"/>
                      <a:pt x="80962" y="26988"/>
                    </a:cubicBezTo>
                    <a:cubicBezTo>
                      <a:pt x="80962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849438" y="5275262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876425" y="52482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2170748" y="5106829"/>
              <a:ext cx="11426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病例与报告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176462" y="5450681"/>
              <a:ext cx="18212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历史检索 · 医生判断 · PDF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714500" y="5753100"/>
              <a:ext cx="2095500" cy="19050"/>
            </a:xfrm>
            <a:prstGeom prst="rect">
              <a:avLst/>
            </a:prstGeom>
            <a:solidFill>
              <a:srgbClr val="E6F3F0"/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7867650" y="4838700"/>
            <a:ext cx="2857500" cy="1200150"/>
            <a:chOff x="7867650" y="4838700"/>
            <a:chExt cx="2857500" cy="1200150"/>
          </a:xfrm>
        </p:grpSpPr>
        <p:sp>
          <p:nvSpPr>
            <p:cNvPr id="59" name="Rectangle 59"/>
            <p:cNvSpPr/>
            <p:nvPr/>
          </p:nvSpPr>
          <p:spPr>
            <a:xfrm>
              <a:off x="7867650" y="4838700"/>
              <a:ext cx="2857500" cy="1200150"/>
            </a:xfrm>
            <a:prstGeom prst="roundRect">
              <a:avLst>
                <a:gd name="adj" fmla="val 12698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137571" y="5126831"/>
              <a:ext cx="263509" cy="242888"/>
              <a:chOff x="8137571" y="5126831"/>
              <a:chExt cx="263509" cy="242888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137571" y="5126831"/>
                <a:ext cx="263509" cy="240809"/>
              </a:xfrm>
              <a:custGeom>
                <a:avLst/>
                <a:gdLst/>
                <a:ahLst/>
                <a:cxnLst/>
                <a:rect l="l" t="t" r="r" b="b"/>
                <a:pathLst>
                  <a:path w="263509" h="240809">
                    <a:moveTo>
                      <a:pt x="132368" y="240809"/>
                    </a:moveTo>
                    <a:cubicBezTo>
                      <a:pt x="47835" y="214606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4" y="0"/>
                    </a:cubicBezTo>
                    <a:cubicBezTo>
                      <a:pt x="171173" y="27886"/>
                      <a:pt x="212311" y="42405"/>
                      <a:pt x="254351" y="40481"/>
                    </a:cubicBezTo>
                    <a:cubicBezTo>
                      <a:pt x="263509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17706" y="531574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8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571548" y="51068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管理保障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77262" y="5450681"/>
              <a:ext cx="1746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认证 · 审计 · 指标 · 备份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15300" y="5753100"/>
              <a:ext cx="2095500" cy="19050"/>
            </a:xfrm>
            <a:prstGeom prst="rect">
              <a:avLst/>
            </a:prstGeom>
            <a:solidFill>
              <a:srgbClr val="E6F1FB"/>
            </a:solidFill>
            <a:ln>
              <a:noFill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67" name="TextBox 67"/>
            <p:cNvSpPr txBox="1"/>
            <p:nvPr/>
          </p:nvSpPr>
          <p:spPr>
            <a:xfrm>
              <a:off x="521970" y="6379845"/>
              <a:ext cx="30172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Source: project README and local codebase analysis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32" grpId="0"/>
      <p:bldP spid="42" grpId="0"/>
      <p:bldP spid="48" grpId="0"/>
      <p:bldP spid="58" grpId="0"/>
      <p:bldP spid="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9110" y="375285"/>
            <a:ext cx="7024649" cy="760571"/>
            <a:chOff x="499110" y="375285"/>
            <a:chExt cx="7024649" cy="760571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375285"/>
              <a:ext cx="702464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V2 模型以图像为主导融合医学文本上下文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112" y="907256"/>
              <a:ext cx="55567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EfficientNet-B3 与医学 BERT 的门控融合，让系统同时利用影像形态和检查描述。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1695450"/>
            <a:ext cx="11106150" cy="3162300"/>
            <a:chOff x="609600" y="1695450"/>
            <a:chExt cx="11106150" cy="31623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2381250" cy="129540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16781" y="2024062"/>
              <a:ext cx="242888" cy="161925"/>
            </a:xfrm>
            <a:custGeom>
              <a:avLst/>
              <a:gdLst/>
              <a:ahLst/>
              <a:cxnLst/>
              <a:rect l="l" t="t" r="r" b="b"/>
              <a:pathLst>
                <a:path w="242888" h="161925">
                  <a:moveTo>
                    <a:pt x="0" y="80962"/>
                  </a:moveTo>
                  <a:lnTo>
                    <a:pt x="60722" y="80962"/>
                  </a:lnTo>
                  <a:lnTo>
                    <a:pt x="80962" y="0"/>
                  </a:lnTo>
                  <a:lnTo>
                    <a:pt x="134938" y="161925"/>
                  </a:lnTo>
                  <a:lnTo>
                    <a:pt x="161925" y="40481"/>
                  </a:lnTo>
                  <a:lnTo>
                    <a:pt x="182166" y="80962"/>
                  </a:lnTo>
                  <a:lnTo>
                    <a:pt x="242888" y="80962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254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超声图像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2012" y="2374106"/>
              <a:ext cx="6961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300 x 300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2012" y="2640806"/>
              <a:ext cx="15962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RGB · ImageNet 归一化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3562350"/>
              <a:ext cx="2381250" cy="129540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43769" y="3850481"/>
              <a:ext cx="188913" cy="242888"/>
              <a:chOff x="943769" y="3850481"/>
              <a:chExt cx="188913" cy="24288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43769" y="3877469"/>
                <a:ext cx="188913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15900">
                    <a:moveTo>
                      <a:pt x="53975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3"/>
                    </a:lnTo>
                    <a:cubicBezTo>
                      <a:pt x="0" y="203817"/>
                      <a:pt x="12083" y="215900"/>
                      <a:pt x="26988" y="215900"/>
                    </a:cubicBezTo>
                    <a:lnTo>
                      <a:pt x="161925" y="215900"/>
                    </a:lnTo>
                    <a:cubicBezTo>
                      <a:pt x="176830" y="215900"/>
                      <a:pt x="188913" y="203817"/>
                      <a:pt x="188913" y="188913"/>
                    </a:cubicBezTo>
                    <a:lnTo>
                      <a:pt x="188913" y="26988"/>
                    </a:lnTo>
                    <a:cubicBezTo>
                      <a:pt x="188913" y="12083"/>
                      <a:pt x="176830" y="0"/>
                      <a:pt x="161925" y="0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7744" y="3850481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cubicBezTo>
                      <a:pt x="0" y="12083"/>
                      <a:pt x="12083" y="0"/>
                      <a:pt x="26987" y="0"/>
                    </a:cubicBezTo>
                    <a:lnTo>
                      <a:pt x="53975" y="0"/>
                    </a:lnTo>
                    <a:cubicBezTo>
                      <a:pt x="68880" y="0"/>
                      <a:pt x="80962" y="12083"/>
                      <a:pt x="80962" y="26987"/>
                    </a:cubicBezTo>
                    <a:cubicBezTo>
                      <a:pt x="80962" y="41892"/>
                      <a:pt x="68880" y="53975"/>
                      <a:pt x="53975" y="53975"/>
                    </a:cubicBezTo>
                    <a:lnTo>
                      <a:pt x="26987" y="53975"/>
                    </a:lnTo>
                    <a:cubicBezTo>
                      <a:pt x="12083" y="53975"/>
                      <a:pt x="0" y="41892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11238" y="3998912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38225" y="39719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12545" y="3822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检查文本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012" y="424100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检查方式 + 检查所见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2012" y="4507706"/>
              <a:ext cx="15137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empty → zero vector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990850" y="2343150"/>
              <a:ext cx="91440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2990850" y="4210050"/>
              <a:ext cx="91440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38600" y="1695450"/>
              <a:ext cx="2381250" cy="1295400"/>
            </a:xfrm>
            <a:prstGeom prst="roundRect">
              <a:avLst>
                <a:gd name="adj" fmla="val 11765"/>
              </a:avLst>
            </a:prstGeom>
            <a:solidFill>
              <a:srgbClr val="E6F3F0"/>
            </a:solidFill>
            <a:ln w="9525">
              <a:solidFill>
                <a:srgbClr val="D8D6C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22445" y="1955482"/>
              <a:ext cx="18323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EfficientNet-B3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29112" y="2374106"/>
              <a:ext cx="13037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1536-dim feature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29112" y="26408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图像形态主输入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038600" y="3562350"/>
              <a:ext cx="2381250" cy="1295400"/>
            </a:xfrm>
            <a:prstGeom prst="roundRect">
              <a:avLst>
                <a:gd name="adj" fmla="val 11765"/>
              </a:avLst>
            </a:prstGeom>
            <a:solidFill>
              <a:srgbClr val="E6F1FB"/>
            </a:solidFill>
            <a:ln w="9525">
              <a:solidFill>
                <a:srgbClr val="D8D6C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22445" y="3822382"/>
              <a:ext cx="10815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医学 BERT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29112" y="42410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768-dim CLS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29112" y="45077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保留检查上下文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419850" y="2343150"/>
              <a:ext cx="952500" cy="819150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sp>
          <p:nvSpPr>
            <p:cNvPr id="31" name="Line 31"/>
            <p:cNvSpPr/>
            <p:nvPr/>
          </p:nvSpPr>
          <p:spPr>
            <a:xfrm flipV="1">
              <a:off x="6419850" y="3429000"/>
              <a:ext cx="952500" cy="781050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29500" y="2457450"/>
              <a:ext cx="2381250" cy="1638300"/>
            </a:xfrm>
            <a:prstGeom prst="roundRect">
              <a:avLst>
                <a:gd name="adj" fmla="val 10465"/>
              </a:avLst>
            </a:prstGeom>
            <a:solidFill>
              <a:srgbClr val="FFFFFF"/>
            </a:solidFill>
            <a:ln w="19050">
              <a:solidFill>
                <a:srgbClr val="00796B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779544" y="2788444"/>
              <a:ext cx="271462" cy="271462"/>
              <a:chOff x="7779544" y="2788444"/>
              <a:chExt cx="271462" cy="27146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915275" y="2939256"/>
                <a:ext cx="105569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120650">
                    <a:moveTo>
                      <a:pt x="52784" y="0"/>
                    </a:moveTo>
                    <a:cubicBezTo>
                      <a:pt x="23632" y="0"/>
                      <a:pt x="0" y="23632"/>
                      <a:pt x="0" y="52784"/>
                    </a:cubicBezTo>
                    <a:lnTo>
                      <a:pt x="0" y="67866"/>
                    </a:lnTo>
                    <a:cubicBezTo>
                      <a:pt x="0" y="97018"/>
                      <a:pt x="23632" y="120650"/>
                      <a:pt x="52784" y="120650"/>
                    </a:cubicBezTo>
                    <a:cubicBezTo>
                      <a:pt x="81936" y="120650"/>
                      <a:pt x="105569" y="97018"/>
                      <a:pt x="105569" y="67866"/>
                    </a:cubicBezTo>
                    <a:lnTo>
                      <a:pt x="105569" y="40719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809706" y="2939256"/>
                <a:ext cx="105569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120650">
                    <a:moveTo>
                      <a:pt x="52784" y="0"/>
                    </a:moveTo>
                    <a:cubicBezTo>
                      <a:pt x="81936" y="0"/>
                      <a:pt x="105569" y="23632"/>
                      <a:pt x="105569" y="52784"/>
                    </a:cubicBezTo>
                    <a:lnTo>
                      <a:pt x="105569" y="67866"/>
                    </a:lnTo>
                    <a:cubicBezTo>
                      <a:pt x="105569" y="97018"/>
                      <a:pt x="81936" y="120650"/>
                      <a:pt x="52784" y="120650"/>
                    </a:cubicBezTo>
                    <a:cubicBezTo>
                      <a:pt x="23632" y="120650"/>
                      <a:pt x="0" y="97018"/>
                      <a:pt x="0" y="67866"/>
                    </a:cubicBezTo>
                    <a:lnTo>
                      <a:pt x="0" y="40719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990681" y="2878931"/>
                <a:ext cx="60325" cy="105569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05569">
                    <a:moveTo>
                      <a:pt x="7541" y="105569"/>
                    </a:moveTo>
                    <a:cubicBezTo>
                      <a:pt x="36693" y="105569"/>
                      <a:pt x="60325" y="81936"/>
                      <a:pt x="60325" y="52784"/>
                    </a:cubicBezTo>
                    <a:cubicBezTo>
                      <a:pt x="60325" y="23632"/>
                      <a:pt x="36693" y="0"/>
                      <a:pt x="7541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915275" y="2788444"/>
                <a:ext cx="105569" cy="95012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95012">
                    <a:moveTo>
                      <a:pt x="105569" y="95012"/>
                    </a:moveTo>
                    <a:lnTo>
                      <a:pt x="105569" y="52784"/>
                    </a:lnTo>
                    <a:cubicBezTo>
                      <a:pt x="105569" y="23632"/>
                      <a:pt x="81936" y="0"/>
                      <a:pt x="52784" y="0"/>
                    </a:cubicBezTo>
                    <a:cubicBezTo>
                      <a:pt x="23632" y="0"/>
                      <a:pt x="0" y="23632"/>
                      <a:pt x="0" y="52784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544" y="2878931"/>
                <a:ext cx="60325" cy="105569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05569">
                    <a:moveTo>
                      <a:pt x="52784" y="105569"/>
                    </a:moveTo>
                    <a:cubicBezTo>
                      <a:pt x="23632" y="105569"/>
                      <a:pt x="0" y="81936"/>
                      <a:pt x="0" y="52784"/>
                    </a:cubicBezTo>
                    <a:cubicBezTo>
                      <a:pt x="0" y="23632"/>
                      <a:pt x="23632" y="0"/>
                      <a:pt x="52784" y="0"/>
                    </a:cubicBezTo>
                    <a:lnTo>
                      <a:pt x="60325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809706" y="2788444"/>
                <a:ext cx="105569" cy="203597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203597">
                    <a:moveTo>
                      <a:pt x="0" y="95012"/>
                    </a:moveTo>
                    <a:lnTo>
                      <a:pt x="0" y="52784"/>
                    </a:lnTo>
                    <a:cubicBezTo>
                      <a:pt x="0" y="23632"/>
                      <a:pt x="23632" y="0"/>
                      <a:pt x="52784" y="0"/>
                    </a:cubicBezTo>
                    <a:cubicBezTo>
                      <a:pt x="81936" y="0"/>
                      <a:pt x="105569" y="23632"/>
                      <a:pt x="105569" y="52784"/>
                    </a:cubicBezTo>
                    <a:lnTo>
                      <a:pt x="105569" y="203597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227695" y="2803208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图像主导门控融合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20012" y="3288506"/>
              <a:ext cx="19563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ImageDominantGatedFusion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20012" y="3555206"/>
              <a:ext cx="9061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hidden = 256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20012" y="3821906"/>
              <a:ext cx="9436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concat → 512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810750" y="3276600"/>
              <a:ext cx="6667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515600" y="2457450"/>
              <a:ext cx="1200150" cy="1638300"/>
            </a:xfrm>
            <a:prstGeom prst="roundRect">
              <a:avLst>
                <a:gd name="adj" fmla="val 14286"/>
              </a:avLst>
            </a:prstGeom>
            <a:solidFill>
              <a:srgbClr val="FCEDE8"/>
            </a:solidFill>
            <a:ln w="9525">
              <a:solidFill>
                <a:srgbClr val="D8D6C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748177" y="27555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分类器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55797" y="3220402"/>
              <a:ext cx="719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512→256→3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797600" y="3574256"/>
              <a:ext cx="6361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15F3C"/>
                  </a:solidFill>
                  <a:latin typeface="Arial"/>
                  <a:ea typeface="Microsoft YaHei"/>
                  <a:cs typeface="Arial"/>
                </a:rPr>
                <a:t>softmax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191250" y="5162550"/>
            <a:ext cx="5524500" cy="685800"/>
            <a:chOff x="6191250" y="5162550"/>
            <a:chExt cx="5524500" cy="685800"/>
          </a:xfrm>
        </p:grpSpPr>
        <p:sp>
          <p:nvSpPr>
            <p:cNvPr id="50" name="Rectangle 50"/>
            <p:cNvSpPr/>
            <p:nvPr/>
          </p:nvSpPr>
          <p:spPr>
            <a:xfrm>
              <a:off x="6191250" y="5162550"/>
              <a:ext cx="55245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78905" y="5435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输出类别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581900" y="5419725"/>
              <a:ext cx="190500" cy="190500"/>
            </a:xfrm>
            <a:prstGeom prst="ellipse">
              <a:avLst/>
            </a:prstGeom>
            <a:solidFill>
              <a:srgbClr val="3B6D1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33360" y="544258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正常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8648700" y="5419725"/>
              <a:ext cx="190500" cy="190500"/>
            </a:xfrm>
            <a:prstGeom prst="ellipse">
              <a:avLst/>
            </a:prstGeom>
            <a:solidFill>
              <a:srgbClr val="A32D2D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900160" y="5442585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子宫内膜癌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10287000" y="5419725"/>
              <a:ext cx="190500" cy="190500"/>
            </a:xfrm>
            <a:prstGeom prst="ellipse">
              <a:avLst/>
            </a:prstGeom>
            <a:solidFill>
              <a:srgbClr val="854F0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38460" y="544258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息肉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9600" y="5162550"/>
            <a:ext cx="5162550" cy="685800"/>
            <a:chOff x="609600" y="5162550"/>
            <a:chExt cx="5162550" cy="685800"/>
          </a:xfrm>
        </p:grpSpPr>
        <p:sp>
          <p:nvSpPr>
            <p:cNvPr id="59" name="Rectangle 59"/>
            <p:cNvSpPr/>
            <p:nvPr/>
          </p:nvSpPr>
          <p:spPr>
            <a:xfrm>
              <a:off x="609600" y="5162550"/>
              <a:ext cx="516255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87730" y="5231130"/>
              <a:ext cx="10236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796B"/>
                  </a:solidFill>
                  <a:latin typeface="Georgia"/>
                  <a:ea typeface="Microsoft YaHei"/>
                  <a:cs typeface="Georgia"/>
                </a:rPr>
                <a:t>10,587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909762" y="5336381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例患者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754630" y="5231130"/>
              <a:ext cx="11853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796B"/>
                  </a:solidFill>
                  <a:latin typeface="Georgia"/>
                  <a:ea typeface="Microsoft YaHei"/>
                  <a:cs typeface="Georgia"/>
                </a:rPr>
                <a:t>196,255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081462" y="5336381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张图像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1065" y="5620702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5-fold CV · Fold 3 EMA · pat_acc = 0.8600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66" name="TextBox 66"/>
            <p:cNvSpPr txBox="1"/>
            <p:nvPr/>
          </p:nvSpPr>
          <p:spPr>
            <a:xfrm>
              <a:off x="521970" y="6379845"/>
              <a:ext cx="33292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Source: README and backend/app/services/inference.py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8" grpId="0"/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9110" y="375285"/>
            <a:ext cx="6873430" cy="760571"/>
            <a:chOff x="499110" y="375285"/>
            <a:chExt cx="6873430" cy="760571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375285"/>
              <a:ext cx="68734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单例推理围绕医生现场操作保持低等待感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112" y="907256"/>
              <a:ext cx="5129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任务提交后异步处理，前端持续反馈队列和运行状态，完成后回到病例详情。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38250"/>
            <a:ext cx="11125200" cy="476250"/>
            <a:chOff x="533400" y="1238250"/>
            <a:chExt cx="11125200" cy="476250"/>
          </a:xfrm>
        </p:grpSpPr>
        <p:sp>
          <p:nvSpPr>
            <p:cNvPr id="6" name="Rectangle 6"/>
            <p:cNvSpPr/>
            <p:nvPr/>
          </p:nvSpPr>
          <p:spPr>
            <a:xfrm>
              <a:off x="533400" y="1238250"/>
              <a:ext cx="11125200" cy="476250"/>
            </a:xfrm>
            <a:prstGeom prst="roundRect">
              <a:avLst>
                <a:gd name="adj" fmla="val 28000"/>
              </a:avLst>
            </a:prstGeom>
            <a:solidFill>
              <a:srgbClr val="E6F3F0"/>
            </a:solidFill>
            <a:ln w="9525">
              <a:solidFill>
                <a:srgbClr val="D8D6C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3908" y="1395889"/>
              <a:ext cx="64761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医生看到的是连续进度反馈；系统内部则用 task_id、队列和聚合任务保证流程稳定。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51035" y="2933700"/>
            <a:ext cx="9759815" cy="1785938"/>
            <a:chOff x="851035" y="2933700"/>
            <a:chExt cx="9759815" cy="1785938"/>
          </a:xfrm>
        </p:grpSpPr>
        <p:sp>
          <p:nvSpPr>
            <p:cNvPr id="9" name="Line 9"/>
            <p:cNvSpPr/>
            <p:nvPr/>
          </p:nvSpPr>
          <p:spPr>
            <a:xfrm>
              <a:off x="1504950" y="3333750"/>
              <a:ext cx="9105900" cy="9525"/>
            </a:xfrm>
            <a:custGeom>
              <a:avLst/>
              <a:gdLst/>
              <a:ahLst/>
              <a:cxnLst/>
              <a:rect l="l" t="t" r="r" b="b"/>
              <a:pathLst>
                <a:path w="9105900" h="9525">
                  <a:moveTo>
                    <a:pt x="0" y="0"/>
                  </a:moveTo>
                  <a:lnTo>
                    <a:pt x="9105900" y="0"/>
                  </a:lnTo>
                </a:path>
              </a:pathLst>
            </a:custGeom>
            <a:noFill/>
            <a:ln w="28575">
              <a:solidFill>
                <a:srgbClr val="D8D6CC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51035" y="2933700"/>
              <a:ext cx="1307830" cy="1785938"/>
              <a:chOff x="851035" y="2933700"/>
              <a:chExt cx="1307830" cy="1785938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104900" y="29337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796B"/>
                </a:solidFill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1362075" y="3190875"/>
                <a:ext cx="301625" cy="285750"/>
                <a:chOff x="1362075" y="3190875"/>
                <a:chExt cx="301625" cy="28575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362075" y="3206750"/>
                  <a:ext cx="174625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174625">
                      <a:moveTo>
                        <a:pt x="47625" y="0"/>
                      </a:moveTo>
                      <a:lnTo>
                        <a:pt x="31750" y="0"/>
                      </a:lnTo>
                      <a:cubicBezTo>
                        <a:pt x="14215" y="0"/>
                        <a:pt x="0" y="14215"/>
                        <a:pt x="0" y="31750"/>
                      </a:cubicBezTo>
                      <a:lnTo>
                        <a:pt x="0" y="87312"/>
                      </a:lnTo>
                      <a:cubicBezTo>
                        <a:pt x="0" y="135534"/>
                        <a:pt x="39091" y="174625"/>
                        <a:pt x="87312" y="174625"/>
                      </a:cubicBezTo>
                      <a:cubicBezTo>
                        <a:pt x="135534" y="174625"/>
                        <a:pt x="174625" y="135534"/>
                        <a:pt x="174625" y="87312"/>
                      </a:cubicBezTo>
                      <a:lnTo>
                        <a:pt x="174625" y="31750"/>
                      </a:lnTo>
                      <a:cubicBezTo>
                        <a:pt x="174625" y="14215"/>
                        <a:pt x="160410" y="0"/>
                        <a:pt x="142875" y="0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441450" y="3333750"/>
                  <a:ext cx="19050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42875">
                      <a:moveTo>
                        <a:pt x="0" y="47625"/>
                      </a:moveTo>
                      <a:cubicBezTo>
                        <a:pt x="0" y="100230"/>
                        <a:pt x="42645" y="142875"/>
                        <a:pt x="95250" y="142875"/>
                      </a:cubicBezTo>
                      <a:cubicBezTo>
                        <a:pt x="147855" y="142875"/>
                        <a:pt x="190500" y="100230"/>
                        <a:pt x="190500" y="47625"/>
                      </a:cubicBez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489075" y="3190875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409700" y="3190875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600200" y="32702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275874" y="39528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输入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51035" y="428720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病例编号 / 检查方式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06567" y="4506278"/>
                <a:ext cx="79676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1-30 张图像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2000250" y="3333750"/>
              <a:ext cx="8191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2651093" y="2933700"/>
              <a:ext cx="1174814" cy="1785938"/>
              <a:chOff x="2651093" y="2933700"/>
              <a:chExt cx="1174814" cy="1785938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2838450" y="29337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796B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3095625" y="3190875"/>
                <a:ext cx="285750" cy="285750"/>
                <a:chOff x="3095625" y="3190875"/>
                <a:chExt cx="285750" cy="28575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3222625" y="3317875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15875"/>
                      </a:moveTo>
                      <a:cubicBezTo>
                        <a:pt x="0" y="24643"/>
                        <a:pt x="7107" y="31750"/>
                        <a:pt x="15875" y="31750"/>
                      </a:cubicBezTo>
                      <a:cubicBezTo>
                        <a:pt x="24643" y="31750"/>
                        <a:pt x="31750" y="24643"/>
                        <a:pt x="31750" y="15875"/>
                      </a:cubicBez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3159125" y="3254375"/>
                  <a:ext cx="158750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158750">
                      <a:moveTo>
                        <a:pt x="0" y="79375"/>
                      </a:moveTo>
                      <a:cubicBezTo>
                        <a:pt x="0" y="123213"/>
                        <a:pt x="35537" y="158750"/>
                        <a:pt x="79375" y="158750"/>
                      </a:cubicBezTo>
                      <a:cubicBezTo>
                        <a:pt x="123213" y="158750"/>
                        <a:pt x="158750" y="123213"/>
                        <a:pt x="158750" y="79375"/>
                      </a:cubicBezTo>
                      <a:cubicBezTo>
                        <a:pt x="158750" y="35537"/>
                        <a:pt x="123213" y="0"/>
                        <a:pt x="79375" y="0"/>
                      </a:cubicBezTo>
                      <a:cubicBezTo>
                        <a:pt x="35537" y="0"/>
                        <a:pt x="0" y="35537"/>
                        <a:pt x="0" y="79375"/>
                      </a:cubicBez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095625" y="3190875"/>
                  <a:ext cx="2857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285750">
                      <a:moveTo>
                        <a:pt x="0" y="142875"/>
                      </a:moveTo>
                      <a:cubicBezTo>
                        <a:pt x="0" y="221783"/>
                        <a:pt x="63967" y="285750"/>
                        <a:pt x="142875" y="285750"/>
                      </a:cubicBezTo>
                      <a:cubicBezTo>
                        <a:pt x="221783" y="285750"/>
                        <a:pt x="285750" y="221783"/>
                        <a:pt x="285750" y="142875"/>
                      </a:cubicBezTo>
                      <a:cubicBezTo>
                        <a:pt x="285750" y="63967"/>
                        <a:pt x="221783" y="0"/>
                        <a:pt x="142875" y="0"/>
                      </a:cubicBezTo>
                      <a:cubicBezTo>
                        <a:pt x="63967" y="0"/>
                        <a:pt x="0" y="63967"/>
                        <a:pt x="0" y="142875"/>
                      </a:cubicBez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3009424" y="39528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提交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651093" y="4287202"/>
                <a:ext cx="11748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idempotency_key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805112" y="4506278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避免重复病例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3733800" y="3333750"/>
              <a:ext cx="8191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510659" y="2933700"/>
              <a:ext cx="922782" cy="1785938"/>
              <a:chOff x="4510659" y="2933700"/>
              <a:chExt cx="922782" cy="1785938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4572000" y="29337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2F7C95"/>
                </a:solidFill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4829175" y="3190875"/>
                <a:ext cx="285750" cy="285750"/>
                <a:chOff x="4829175" y="3190875"/>
                <a:chExt cx="285750" cy="28575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4829175" y="34131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5051425" y="31908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31750" y="63500"/>
                      </a:move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  <a:cubicBezTo>
                        <a:pt x="0" y="49285"/>
                        <a:pt x="14215" y="63500"/>
                        <a:pt x="31750" y="63500"/>
                      </a:cubicBez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860925" y="3222625"/>
                  <a:ext cx="238125" cy="22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22250">
                      <a:moveTo>
                        <a:pt x="95250" y="222250"/>
                      </a:moveTo>
                      <a:lnTo>
                        <a:pt x="182563" y="222250"/>
                      </a:lnTo>
                      <a:cubicBezTo>
                        <a:pt x="213249" y="222250"/>
                        <a:pt x="238125" y="197374"/>
                        <a:pt x="238125" y="166688"/>
                      </a:cubicBezTo>
                      <a:cubicBezTo>
                        <a:pt x="238125" y="136001"/>
                        <a:pt x="213249" y="111125"/>
                        <a:pt x="182563" y="111125"/>
                      </a:cubicBezTo>
                      <a:lnTo>
                        <a:pt x="55562" y="111125"/>
                      </a:lnTo>
                      <a:cubicBezTo>
                        <a:pt x="24876" y="111125"/>
                        <a:pt x="0" y="86249"/>
                        <a:pt x="0" y="55563"/>
                      </a:cubicBezTo>
                      <a:cubicBezTo>
                        <a:pt x="0" y="24876"/>
                        <a:pt x="24876" y="0"/>
                        <a:pt x="55562" y="0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4742974" y="39528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任务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510659" y="4287202"/>
                <a:ext cx="9227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202 + task_id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38662" y="4506278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前端轮询状态</a:t>
                </a:r>
              </a:p>
            </p:txBody>
          </p:sp>
        </p:grpSp>
        <p:sp>
          <p:nvSpPr>
            <p:cNvPr id="41" name="Line 41"/>
            <p:cNvSpPr/>
            <p:nvPr/>
          </p:nvSpPr>
          <p:spPr>
            <a:xfrm>
              <a:off x="5467350" y="3333750"/>
              <a:ext cx="8191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305550" y="2933700"/>
              <a:ext cx="800100" cy="1785938"/>
              <a:chOff x="6305550" y="2933700"/>
              <a:chExt cx="800100" cy="1785938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305550" y="29337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2F7C95"/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6562725" y="3190875"/>
                <a:ext cx="285750" cy="285750"/>
                <a:chOff x="6562725" y="3190875"/>
                <a:chExt cx="285750" cy="28575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705600" y="3349625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24876" y="0"/>
                        <a:pt x="0" y="24876"/>
                        <a:pt x="0" y="55562"/>
                      </a:cubicBezTo>
                      <a:lnTo>
                        <a:pt x="0" y="71438"/>
                      </a:lnTo>
                      <a:cubicBezTo>
                        <a:pt x="0" y="102124"/>
                        <a:pt x="24876" y="127000"/>
                        <a:pt x="55563" y="127000"/>
                      </a:cubicBezTo>
                      <a:cubicBezTo>
                        <a:pt x="86249" y="127000"/>
                        <a:pt x="111125" y="102124"/>
                        <a:pt x="111125" y="71438"/>
                      </a:cubicBezTo>
                      <a:lnTo>
                        <a:pt x="111125" y="42862"/>
                      </a:ln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594475" y="3349625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2" y="0"/>
                      </a:moveTo>
                      <a:cubicBezTo>
                        <a:pt x="86249" y="0"/>
                        <a:pt x="111125" y="24876"/>
                        <a:pt x="111125" y="55562"/>
                      </a:cubicBezTo>
                      <a:lnTo>
                        <a:pt x="111125" y="71438"/>
                      </a:lnTo>
                      <a:cubicBezTo>
                        <a:pt x="111125" y="102124"/>
                        <a:pt x="86249" y="127000"/>
                        <a:pt x="55562" y="127000"/>
                      </a:cubicBezTo>
                      <a:cubicBezTo>
                        <a:pt x="24876" y="127000"/>
                        <a:pt x="0" y="102124"/>
                        <a:pt x="0" y="71438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6784975" y="3286125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7937" y="111125"/>
                      </a:moveTo>
                      <a:cubicBezTo>
                        <a:pt x="38624" y="111125"/>
                        <a:pt x="63500" y="86249"/>
                        <a:pt x="63500" y="55562"/>
                      </a:cubicBezTo>
                      <a:cubicBezTo>
                        <a:pt x="63500" y="24876"/>
                        <a:pt x="38624" y="0"/>
                        <a:pt x="7937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6705600" y="3190875"/>
                  <a:ext cx="1111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00012">
                      <a:moveTo>
                        <a:pt x="111125" y="100012"/>
                      </a:moveTo>
                      <a:lnTo>
                        <a:pt x="111125" y="55562"/>
                      </a:lnTo>
                      <a:cubicBezTo>
                        <a:pt x="111125" y="24876"/>
                        <a:pt x="86249" y="0"/>
                        <a:pt x="55563" y="0"/>
                      </a:cubicBezTo>
                      <a:cubicBezTo>
                        <a:pt x="24876" y="0"/>
                        <a:pt x="0" y="24876"/>
                        <a:pt x="0" y="55562"/>
                      </a:cubicBez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562725" y="3286125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55563" y="111125"/>
                      </a:moveTo>
                      <a:cubicBezTo>
                        <a:pt x="24876" y="111125"/>
                        <a:pt x="0" y="86249"/>
                        <a:pt x="0" y="55562"/>
                      </a:cubicBezTo>
                      <a:cubicBezTo>
                        <a:pt x="0" y="24876"/>
                        <a:pt x="24876" y="0"/>
                        <a:pt x="55563" y="0"/>
                      </a:cubicBezTo>
                      <a:lnTo>
                        <a:pt x="63500" y="0"/>
                      </a:ln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6594475" y="3190875"/>
                  <a:ext cx="111125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214312">
                      <a:moveTo>
                        <a:pt x="0" y="100012"/>
                      </a:moveTo>
                      <a:lnTo>
                        <a:pt x="0" y="55562"/>
                      </a:lnTo>
                      <a:cubicBezTo>
                        <a:pt x="0" y="24876"/>
                        <a:pt x="24876" y="0"/>
                        <a:pt x="55562" y="0"/>
                      </a:cubicBezTo>
                      <a:cubicBezTo>
                        <a:pt x="86249" y="0"/>
                        <a:pt x="111125" y="24876"/>
                        <a:pt x="111125" y="55562"/>
                      </a:cubicBezTo>
                      <a:lnTo>
                        <a:pt x="111125" y="214312"/>
                      </a:ln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6476524" y="39528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推理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412230" y="42872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逐图分析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342221" y="4506278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患者级聚合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7200900" y="3333750"/>
              <a:ext cx="8191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039100" y="2933700"/>
              <a:ext cx="800100" cy="1785938"/>
              <a:chOff x="8039100" y="2933700"/>
              <a:chExt cx="800100" cy="1785938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8039100" y="29337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C15F3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96275" y="323850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0" y="95250"/>
                    </a:moveTo>
                    <a:lnTo>
                      <a:pt x="71438" y="95250"/>
                    </a:lnTo>
                    <a:lnTo>
                      <a:pt x="95250" y="0"/>
                    </a:lnTo>
                    <a:lnTo>
                      <a:pt x="158750" y="190500"/>
                    </a:lnTo>
                    <a:lnTo>
                      <a:pt x="190500" y="47625"/>
                    </a:lnTo>
                    <a:lnTo>
                      <a:pt x="214312" y="95250"/>
                    </a:lnTo>
                    <a:lnTo>
                      <a:pt x="285750" y="95250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210074" y="39528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输出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145780" y="42872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概率分布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03775" y="4506278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Grad-CAM</a:t>
                </a:r>
              </a:p>
            </p:txBody>
          </p:sp>
        </p:grpSp>
        <p:sp>
          <p:nvSpPr>
            <p:cNvPr id="61" name="Line 61"/>
            <p:cNvSpPr/>
            <p:nvPr/>
          </p:nvSpPr>
          <p:spPr>
            <a:xfrm>
              <a:off x="8934450" y="3333750"/>
              <a:ext cx="8191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9772650" y="2933700"/>
              <a:ext cx="800100" cy="1785938"/>
              <a:chOff x="9772650" y="2933700"/>
              <a:chExt cx="800100" cy="1785938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9772650" y="29337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C15F3C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10061575" y="3190875"/>
                <a:ext cx="222250" cy="285750"/>
                <a:chOff x="10061575" y="3190875"/>
                <a:chExt cx="222250" cy="285750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10061575" y="3222625"/>
                  <a:ext cx="222250" cy="25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254000">
                      <a:moveTo>
                        <a:pt x="63500" y="0"/>
                      </a:moveTo>
                      <a:lnTo>
                        <a:pt x="31750" y="0"/>
                      </a:lnTo>
                      <a:cubicBezTo>
                        <a:pt x="14215" y="0"/>
                        <a:pt x="0" y="14215"/>
                        <a:pt x="0" y="31750"/>
                      </a:cubicBezTo>
                      <a:lnTo>
                        <a:pt x="0" y="222250"/>
                      </a:lnTo>
                      <a:cubicBezTo>
                        <a:pt x="0" y="239785"/>
                        <a:pt x="14215" y="254000"/>
                        <a:pt x="31750" y="254000"/>
                      </a:cubicBezTo>
                      <a:lnTo>
                        <a:pt x="190500" y="254000"/>
                      </a:lnTo>
                      <a:cubicBezTo>
                        <a:pt x="208035" y="254000"/>
                        <a:pt x="222250" y="239785"/>
                        <a:pt x="222250" y="222250"/>
                      </a:cubicBezTo>
                      <a:lnTo>
                        <a:pt x="222250" y="31750"/>
                      </a:lnTo>
                      <a:cubicBezTo>
                        <a:pt x="222250" y="14215"/>
                        <a:pt x="208035" y="0"/>
                        <a:pt x="190500" y="0"/>
                      </a:cubicBezTo>
                      <a:lnTo>
                        <a:pt x="158750" y="0"/>
                      </a:ln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10125075" y="3190875"/>
                  <a:ext cx="9525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3500">
                      <a:moveTo>
                        <a:pt x="0" y="31750"/>
                      </a:move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cubicBezTo>
                        <a:pt x="95250" y="49285"/>
                        <a:pt x="81035" y="63500"/>
                        <a:pt x="63500" y="63500"/>
                      </a:cubicBezTo>
                      <a:lnTo>
                        <a:pt x="31750" y="63500"/>
                      </a:lnTo>
                      <a:cubicBezTo>
                        <a:pt x="14215" y="63500"/>
                        <a:pt x="0" y="4928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10140950" y="3365500"/>
                  <a:ext cx="63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9525">
                      <a:moveTo>
                        <a:pt x="0" y="0"/>
                      </a:moveTo>
                      <a:lnTo>
                        <a:pt x="63500" y="0"/>
                      </a:ln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10172700" y="333375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9943624" y="39528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复核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879330" y="42872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医生判断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882830" y="4506278"/>
                <a:ext cx="5797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PDF 报告</a:t>
                </a:r>
              </a:p>
            </p:txBody>
          </p:sp>
        </p:grpSp>
      </p:grpSp>
      <p:grpSp>
        <p:nvGrpSpPr>
          <p:cNvPr id="80" name="Group 80"/>
          <p:cNvGrpSpPr/>
          <p:nvPr/>
        </p:nvGrpSpPr>
        <p:grpSpPr>
          <a:xfrm>
            <a:off x="1657350" y="5314950"/>
            <a:ext cx="8877300" cy="400050"/>
            <a:chOff x="1657350" y="5314950"/>
            <a:chExt cx="8877300" cy="400050"/>
          </a:xfrm>
        </p:grpSpPr>
        <p:sp>
          <p:nvSpPr>
            <p:cNvPr id="73" name="Rectangle 73"/>
            <p:cNvSpPr/>
            <p:nvPr/>
          </p:nvSpPr>
          <p:spPr>
            <a:xfrm>
              <a:off x="1657350" y="5314950"/>
              <a:ext cx="8877300" cy="4000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657350" y="5314950"/>
              <a:ext cx="2362200" cy="400050"/>
            </a:xfrm>
            <a:prstGeom prst="roundRect">
              <a:avLst>
                <a:gd name="adj" fmla="val 50000"/>
              </a:avLst>
            </a:prstGeom>
            <a:solidFill>
              <a:srgbClr val="E6F3F0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4019550" y="5314950"/>
              <a:ext cx="2876550" cy="400050"/>
            </a:xfrm>
            <a:prstGeom prst="rect">
              <a:avLst/>
            </a:prstGeom>
            <a:solidFill>
              <a:srgbClr val="E6F1FB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896100" y="5314950"/>
              <a:ext cx="3638550" cy="400050"/>
            </a:xfrm>
            <a:prstGeom prst="roundRect">
              <a:avLst>
                <a:gd name="adj" fmla="val 50000"/>
              </a:avLst>
            </a:prstGeom>
            <a:solidFill>
              <a:srgbClr val="FCEDE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576632" y="5441156"/>
              <a:ext cx="5236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0796B"/>
                  </a:solidFill>
                  <a:latin typeface="Consolas"/>
                  <a:ea typeface="Microsoft YaHei"/>
                  <a:cs typeface="Consolas"/>
                </a:rPr>
                <a:t>queued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173504" y="5441156"/>
              <a:ext cx="5686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F7C95"/>
                  </a:solidFill>
                  <a:latin typeface="Consolas"/>
                  <a:ea typeface="Microsoft YaHei"/>
                  <a:cs typeface="Consolas"/>
                </a:rPr>
                <a:t>running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39780" y="5441156"/>
              <a:ext cx="9511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15F3C"/>
                  </a:solidFill>
                  <a:latin typeface="Consolas"/>
                  <a:ea typeface="Microsoft YaHei"/>
                  <a:cs typeface="Consolas"/>
                </a:rPr>
                <a:t>done / failed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81" name="TextBox 81"/>
            <p:cNvSpPr txBox="1"/>
            <p:nvPr/>
          </p:nvSpPr>
          <p:spPr>
            <a:xfrm>
              <a:off x="521970" y="6379845"/>
              <a:ext cx="38393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Source: frontend/src/pages/Predict.tsx and backend queue APIs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2" grpId="0"/>
      <p:bldP spid="8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9110" y="375285"/>
            <a:ext cx="8007572" cy="760571"/>
            <a:chOff x="499110" y="375285"/>
            <a:chExt cx="8007572" cy="760571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37528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批量任务可以跑在后台，单例任务仍然优先响应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112" y="907256"/>
              <a:ext cx="4679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优先级队列把临床交互和后台处理解耦，避免批量任务占满推理资源。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33400" y="1409700"/>
            <a:ext cx="6343650" cy="4438650"/>
            <a:chOff x="533400" y="1409700"/>
            <a:chExt cx="6343650" cy="4438650"/>
          </a:xfrm>
        </p:grpSpPr>
        <p:sp>
          <p:nvSpPr>
            <p:cNvPr id="6" name="Rectangle 6"/>
            <p:cNvSpPr/>
            <p:nvPr/>
          </p:nvSpPr>
          <p:spPr>
            <a:xfrm>
              <a:off x="533400" y="1409700"/>
              <a:ext cx="6343650" cy="4438650"/>
            </a:xfrm>
            <a:prstGeom prst="roundRect">
              <a:avLst>
                <a:gd name="adj" fmla="val 3863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1530" y="16211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批量流水线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33450" y="2247900"/>
              <a:ext cx="1962150" cy="952500"/>
              <a:chOff x="933450" y="2247900"/>
              <a:chExt cx="1962150" cy="952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933450" y="2247900"/>
                <a:ext cx="1962150" cy="952500"/>
              </a:xfrm>
              <a:prstGeom prst="roundRect">
                <a:avLst>
                  <a:gd name="adj" fmla="val 16000"/>
                </a:avLst>
              </a:prstGeom>
              <a:solidFill>
                <a:srgbClr val="E6F3F0"/>
              </a:solidFill>
              <a:ln w="9525">
                <a:solidFill>
                  <a:srgbClr val="D8D6CC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202531" y="2536031"/>
                <a:ext cx="242888" cy="242888"/>
                <a:chOff x="1202531" y="2536031"/>
                <a:chExt cx="242888" cy="242888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337469" y="2670969"/>
                  <a:ext cx="107950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107950">
                      <a:moveTo>
                        <a:pt x="0" y="53975"/>
                      </a:moveTo>
                      <a:cubicBezTo>
                        <a:pt x="0" y="83785"/>
                        <a:pt x="24165" y="107950"/>
                        <a:pt x="53975" y="107950"/>
                      </a:cubicBezTo>
                      <a:cubicBezTo>
                        <a:pt x="83785" y="107950"/>
                        <a:pt x="107950" y="83785"/>
                        <a:pt x="107950" y="53975"/>
                      </a:cubicBezTo>
                      <a:cubicBezTo>
                        <a:pt x="107950" y="24165"/>
                        <a:pt x="83785" y="0"/>
                        <a:pt x="53975" y="0"/>
                      </a:cubicBezTo>
                      <a:cubicBezTo>
                        <a:pt x="24165" y="0"/>
                        <a:pt x="0" y="24165"/>
                        <a:pt x="0" y="53975"/>
                      </a:cubicBez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391444" y="2670969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0"/>
                      </a:moveTo>
                      <a:lnTo>
                        <a:pt x="0" y="53975"/>
                      </a:lnTo>
                      <a:lnTo>
                        <a:pt x="53975" y="53975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323975" y="2536031"/>
                  <a:ext cx="67469" cy="67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69" h="67469">
                      <a:moveTo>
                        <a:pt x="0" y="0"/>
                      </a:moveTo>
                      <a:lnTo>
                        <a:pt x="0" y="53975"/>
                      </a:lnTo>
                      <a:cubicBezTo>
                        <a:pt x="0" y="61427"/>
                        <a:pt x="6041" y="67469"/>
                        <a:pt x="13494" y="67469"/>
                      </a:cubicBezTo>
                      <a:lnTo>
                        <a:pt x="67469" y="67469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02531" y="2536031"/>
                  <a:ext cx="188913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13" h="242888">
                      <a:moveTo>
                        <a:pt x="114697" y="242888"/>
                      </a:moveTo>
                      <a:lnTo>
                        <a:pt x="26988" y="242888"/>
                      </a:lnTo>
                      <a:cubicBezTo>
                        <a:pt x="12083" y="242888"/>
                        <a:pt x="0" y="230805"/>
                        <a:pt x="0" y="215900"/>
                      </a:cubicBezTo>
                      <a:lnTo>
                        <a:pt x="0" y="26987"/>
                      </a:lnTo>
                      <a:cubicBezTo>
                        <a:pt x="0" y="12083"/>
                        <a:pt x="12083" y="0"/>
                        <a:pt x="26988" y="0"/>
                      </a:cubicBezTo>
                      <a:lnTo>
                        <a:pt x="121444" y="0"/>
                      </a:lnTo>
                      <a:lnTo>
                        <a:pt x="188913" y="67469"/>
                      </a:lnTo>
                      <a:lnTo>
                        <a:pt x="188913" y="94456"/>
                      </a:lnTo>
                      <a:moveTo>
                        <a:pt x="188913" y="134938"/>
                      </a:moveTo>
                      <a:lnTo>
                        <a:pt x="188913" y="188912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619250" y="2533650"/>
                <a:ext cx="81519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ZIP 上传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49668" y="2885599"/>
                <a:ext cx="8763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manifest.csv</a:t>
                </a: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2895600" y="2724150"/>
              <a:ext cx="7429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733800" y="2247900"/>
              <a:ext cx="1962150" cy="952500"/>
              <a:chOff x="3733800" y="2247900"/>
              <a:chExt cx="1962150" cy="952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733800" y="2247900"/>
                <a:ext cx="1962150" cy="952500"/>
              </a:xfrm>
              <a:prstGeom prst="roundRect">
                <a:avLst>
                  <a:gd name="adj" fmla="val 16000"/>
                </a:avLst>
              </a:prstGeom>
              <a:solidFill>
                <a:srgbClr val="E6F1FB"/>
              </a:solidFill>
              <a:ln w="9525">
                <a:solidFill>
                  <a:srgbClr val="D8D6CC"/>
                </a:solidFill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4002881" y="2536031"/>
                <a:ext cx="242888" cy="242887"/>
                <a:chOff x="4002881" y="2536031"/>
                <a:chExt cx="242888" cy="242887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4029869" y="2536031"/>
                  <a:ext cx="107950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107950">
                      <a:moveTo>
                        <a:pt x="0" y="53975"/>
                      </a:moveTo>
                      <a:cubicBezTo>
                        <a:pt x="0" y="83785"/>
                        <a:pt x="24165" y="107950"/>
                        <a:pt x="53975" y="107950"/>
                      </a:cubicBezTo>
                      <a:cubicBezTo>
                        <a:pt x="83785" y="107950"/>
                        <a:pt x="107950" y="83785"/>
                        <a:pt x="107950" y="53975"/>
                      </a:cubicBezTo>
                      <a:cubicBezTo>
                        <a:pt x="107950" y="24165"/>
                        <a:pt x="83785" y="0"/>
                        <a:pt x="53975" y="0"/>
                      </a:cubicBezTo>
                      <a:cubicBezTo>
                        <a:pt x="24165" y="0"/>
                        <a:pt x="0" y="24165"/>
                        <a:pt x="0" y="53975"/>
                      </a:cubicBez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002881" y="2697956"/>
                  <a:ext cx="161925" cy="80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80962">
                      <a:moveTo>
                        <a:pt x="0" y="80962"/>
                      </a:moveTo>
                      <a:lnTo>
                        <a:pt x="0" y="53975"/>
                      </a:lnTo>
                      <a:cubicBezTo>
                        <a:pt x="0" y="24165"/>
                        <a:pt x="24165" y="0"/>
                        <a:pt x="53975" y="0"/>
                      </a:cubicBezTo>
                      <a:lnTo>
                        <a:pt x="107950" y="0"/>
                      </a:lnTo>
                      <a:cubicBezTo>
                        <a:pt x="137760" y="0"/>
                        <a:pt x="161925" y="24165"/>
                        <a:pt x="161925" y="53975"/>
                      </a:cubicBezTo>
                      <a:lnTo>
                        <a:pt x="161925" y="80962"/>
                      </a:ln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178300" y="2537785"/>
                  <a:ext cx="40587" cy="104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87" h="104577">
                      <a:moveTo>
                        <a:pt x="0" y="0"/>
                      </a:moveTo>
                      <a:cubicBezTo>
                        <a:pt x="23883" y="6115"/>
                        <a:pt x="40587" y="27635"/>
                        <a:pt x="40587" y="52288"/>
                      </a:cubicBezTo>
                      <a:cubicBezTo>
                        <a:pt x="40587" y="76941"/>
                        <a:pt x="23883" y="98462"/>
                        <a:pt x="0" y="104577"/>
                      </a:cubicBez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205288" y="2699980"/>
                  <a:ext cx="40481" cy="78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1" h="78938">
                      <a:moveTo>
                        <a:pt x="40481" y="78938"/>
                      </a:moveTo>
                      <a:lnTo>
                        <a:pt x="40481" y="51951"/>
                      </a:lnTo>
                      <a:cubicBezTo>
                        <a:pt x="40340" y="27454"/>
                        <a:pt x="23720" y="612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4419600" y="2533650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患者拆分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950018" y="2885599"/>
                <a:ext cx="15654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按 patient_no 子目录展开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4714875" y="3200400"/>
              <a:ext cx="1" cy="552450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3733800" y="3848100"/>
              <a:ext cx="1962150" cy="952500"/>
              <a:chOff x="3733800" y="3848100"/>
              <a:chExt cx="1962150" cy="9525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733800" y="3848100"/>
                <a:ext cx="1962150" cy="952500"/>
              </a:xfrm>
              <a:prstGeom prst="roundRect">
                <a:avLst>
                  <a:gd name="adj" fmla="val 16000"/>
                </a:avLst>
              </a:prstGeom>
              <a:solidFill>
                <a:srgbClr val="FCEDE8"/>
              </a:solidFill>
              <a:ln w="9525">
                <a:solidFill>
                  <a:srgbClr val="D8D6CC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002881" y="4136231"/>
                <a:ext cx="242888" cy="242888"/>
                <a:chOff x="4002881" y="4136231"/>
                <a:chExt cx="242888" cy="242888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124325" y="4271169"/>
                  <a:ext cx="94456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107950">
                      <a:moveTo>
                        <a:pt x="47228" y="0"/>
                      </a:moveTo>
                      <a:cubicBezTo>
                        <a:pt x="21145" y="0"/>
                        <a:pt x="0" y="21145"/>
                        <a:pt x="0" y="47228"/>
                      </a:cubicBezTo>
                      <a:lnTo>
                        <a:pt x="0" y="60722"/>
                      </a:lnTo>
                      <a:cubicBezTo>
                        <a:pt x="0" y="86805"/>
                        <a:pt x="21145" y="107950"/>
                        <a:pt x="47228" y="107950"/>
                      </a:cubicBezTo>
                      <a:cubicBezTo>
                        <a:pt x="73311" y="107950"/>
                        <a:pt x="94456" y="86805"/>
                        <a:pt x="94456" y="60722"/>
                      </a:cubicBezTo>
                      <a:lnTo>
                        <a:pt x="94456" y="36433"/>
                      </a:ln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029869" y="4271169"/>
                  <a:ext cx="94456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107950">
                      <a:moveTo>
                        <a:pt x="47228" y="0"/>
                      </a:moveTo>
                      <a:cubicBezTo>
                        <a:pt x="73311" y="0"/>
                        <a:pt x="94456" y="21145"/>
                        <a:pt x="94456" y="47228"/>
                      </a:cubicBezTo>
                      <a:lnTo>
                        <a:pt x="94456" y="60722"/>
                      </a:lnTo>
                      <a:cubicBezTo>
                        <a:pt x="94456" y="86805"/>
                        <a:pt x="73311" y="107950"/>
                        <a:pt x="47228" y="107950"/>
                      </a:cubicBezTo>
                      <a:cubicBezTo>
                        <a:pt x="21145" y="107950"/>
                        <a:pt x="0" y="86805"/>
                        <a:pt x="0" y="60722"/>
                      </a:cubicBezTo>
                      <a:lnTo>
                        <a:pt x="0" y="36433"/>
                      </a:ln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191794" y="4217194"/>
                  <a:ext cx="53975" cy="9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4456">
                      <a:moveTo>
                        <a:pt x="6747" y="94456"/>
                      </a:moveTo>
                      <a:cubicBezTo>
                        <a:pt x="32830" y="94456"/>
                        <a:pt x="53975" y="73311"/>
                        <a:pt x="53975" y="47228"/>
                      </a:cubicBezTo>
                      <a:cubicBezTo>
                        <a:pt x="53975" y="21145"/>
                        <a:pt x="32830" y="0"/>
                        <a:pt x="6747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124325" y="4136231"/>
                  <a:ext cx="94456" cy="85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85011">
                      <a:moveTo>
                        <a:pt x="94456" y="85011"/>
                      </a:moveTo>
                      <a:lnTo>
                        <a:pt x="94456" y="47228"/>
                      </a:lnTo>
                      <a:cubicBezTo>
                        <a:pt x="94456" y="21145"/>
                        <a:pt x="73311" y="0"/>
                        <a:pt x="47228" y="0"/>
                      </a:cubicBezTo>
                      <a:cubicBezTo>
                        <a:pt x="21145" y="0"/>
                        <a:pt x="0" y="21145"/>
                        <a:pt x="0" y="47228"/>
                      </a:cubicBez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002881" y="4217194"/>
                  <a:ext cx="53975" cy="9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4456">
                      <a:moveTo>
                        <a:pt x="47228" y="94456"/>
                      </a:moveTo>
                      <a:cubicBezTo>
                        <a:pt x="21145" y="94456"/>
                        <a:pt x="0" y="73311"/>
                        <a:pt x="0" y="47228"/>
                      </a:cubicBezTo>
                      <a:cubicBezTo>
                        <a:pt x="0" y="21145"/>
                        <a:pt x="21145" y="0"/>
                        <a:pt x="47228" y="0"/>
                      </a:cubicBezTo>
                      <a:lnTo>
                        <a:pt x="53975" y="0"/>
                      </a:ln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029869" y="4136231"/>
                  <a:ext cx="94456" cy="182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182166">
                      <a:moveTo>
                        <a:pt x="0" y="85011"/>
                      </a:moveTo>
                      <a:lnTo>
                        <a:pt x="0" y="47228"/>
                      </a:lnTo>
                      <a:cubicBezTo>
                        <a:pt x="0" y="21145"/>
                        <a:pt x="21145" y="0"/>
                        <a:pt x="47228" y="0"/>
                      </a:cubicBezTo>
                      <a:cubicBezTo>
                        <a:pt x="73311" y="0"/>
                        <a:pt x="94456" y="21145"/>
                        <a:pt x="94456" y="47228"/>
                      </a:cubicBezTo>
                      <a:lnTo>
                        <a:pt x="94456" y="182166"/>
                      </a:ln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4419600" y="4133850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逐图推理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950018" y="4485799"/>
                <a:ext cx="164996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每张图进入 per_image 任务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 flipH="1">
              <a:off x="2895600" y="4324350"/>
              <a:ext cx="7429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33450" y="3848100"/>
              <a:ext cx="1962150" cy="952500"/>
              <a:chOff x="933450" y="3848100"/>
              <a:chExt cx="1962150" cy="952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33450" y="3848100"/>
                <a:ext cx="1962150" cy="95250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9525">
                <a:solidFill>
                  <a:srgbClr val="D8D6CC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1202531" y="4136231"/>
                <a:ext cx="252413" cy="242888"/>
                <a:chOff x="1202531" y="4136231"/>
                <a:chExt cx="252413" cy="242888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202531" y="4136231"/>
                  <a:ext cx="107950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107950">
                      <a:moveTo>
                        <a:pt x="0" y="53975"/>
                      </a:moveTo>
                      <a:cubicBezTo>
                        <a:pt x="0" y="83785"/>
                        <a:pt x="24165" y="107950"/>
                        <a:pt x="53975" y="107950"/>
                      </a:cubicBezTo>
                      <a:cubicBezTo>
                        <a:pt x="83785" y="107950"/>
                        <a:pt x="107950" y="83785"/>
                        <a:pt x="107950" y="53975"/>
                      </a:cubicBezTo>
                      <a:cubicBezTo>
                        <a:pt x="107950" y="24165"/>
                        <a:pt x="83785" y="0"/>
                        <a:pt x="53975" y="0"/>
                      </a:cubicBezTo>
                      <a:cubicBezTo>
                        <a:pt x="24165" y="0"/>
                        <a:pt x="0" y="24165"/>
                        <a:pt x="0" y="53975"/>
                      </a:cubicBez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256506" y="4136231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0"/>
                      </a:moveTo>
                      <a:lnTo>
                        <a:pt x="0" y="53975"/>
                      </a:lnTo>
                      <a:lnTo>
                        <a:pt x="53975" y="53975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283494" y="4325144"/>
                  <a:ext cx="952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3975">
                      <a:moveTo>
                        <a:pt x="0" y="0"/>
                      </a:moveTo>
                      <a:lnTo>
                        <a:pt x="0" y="53975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391444" y="4284662"/>
                  <a:ext cx="9525" cy="9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4456">
                      <a:moveTo>
                        <a:pt x="0" y="0"/>
                      </a:moveTo>
                      <a:lnTo>
                        <a:pt x="0" y="94456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1337469" y="4271169"/>
                  <a:ext cx="9525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7950">
                      <a:moveTo>
                        <a:pt x="0" y="0"/>
                      </a:moveTo>
                      <a:lnTo>
                        <a:pt x="0" y="10795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445419" y="4257675"/>
                  <a:ext cx="9525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1444">
                      <a:moveTo>
                        <a:pt x="0" y="0"/>
                      </a:moveTo>
                      <a:lnTo>
                        <a:pt x="0" y="121444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1619250" y="4133850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分类汇总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49668" y="4485799"/>
                <a:ext cx="12144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患者列表 + 逐图详情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7277100" y="1409700"/>
            <a:ext cx="4381500" cy="4438650"/>
            <a:chOff x="7277100" y="1409700"/>
            <a:chExt cx="4381500" cy="4438650"/>
          </a:xfrm>
        </p:grpSpPr>
        <p:sp>
          <p:nvSpPr>
            <p:cNvPr id="52" name="Rectangle 52"/>
            <p:cNvSpPr/>
            <p:nvPr/>
          </p:nvSpPr>
          <p:spPr>
            <a:xfrm>
              <a:off x="7277100" y="1409700"/>
              <a:ext cx="4381500" cy="4438650"/>
            </a:xfrm>
            <a:prstGeom prst="roundRect">
              <a:avLst>
                <a:gd name="adj" fmla="val 3913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55230" y="162115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推理优先级队列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67612" y="2012156"/>
              <a:ext cx="37940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单个后台 worker 串行调用模型，避免模型并发不安全。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7639050" y="2552700"/>
              <a:ext cx="3657600" cy="1885950"/>
              <a:chOff x="7639050" y="2552700"/>
              <a:chExt cx="3657600" cy="18859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7639050" y="2552700"/>
                <a:ext cx="3657600" cy="800100"/>
              </a:xfrm>
              <a:prstGeom prst="roundRect">
                <a:avLst>
                  <a:gd name="adj" fmla="val 19048"/>
                </a:avLst>
              </a:prstGeom>
              <a:solidFill>
                <a:srgbClr val="E6F3F0"/>
              </a:solidFill>
              <a:ln w="19050">
                <a:solidFill>
                  <a:srgbClr val="00796B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952032" y="2821781"/>
                <a:ext cx="231286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31286" h="242888">
                    <a:moveTo>
                      <a:pt x="129137" y="0"/>
                    </a:moveTo>
                    <a:cubicBezTo>
                      <a:pt x="136589" y="0"/>
                      <a:pt x="142631" y="6041"/>
                      <a:pt x="142631" y="13494"/>
                    </a:cubicBezTo>
                    <a:lnTo>
                      <a:pt x="142631" y="74688"/>
                    </a:lnTo>
                    <a:lnTo>
                      <a:pt x="195634" y="44098"/>
                    </a:lnTo>
                    <a:cubicBezTo>
                      <a:pt x="202088" y="40372"/>
                      <a:pt x="210340" y="42583"/>
                      <a:pt x="214067" y="49036"/>
                    </a:cubicBezTo>
                    <a:lnTo>
                      <a:pt x="227560" y="72407"/>
                    </a:lnTo>
                    <a:cubicBezTo>
                      <a:pt x="231286" y="78861"/>
                      <a:pt x="229075" y="87114"/>
                      <a:pt x="222622" y="90840"/>
                    </a:cubicBezTo>
                    <a:lnTo>
                      <a:pt x="169632" y="121444"/>
                    </a:lnTo>
                    <a:lnTo>
                      <a:pt x="222622" y="152061"/>
                    </a:lnTo>
                    <a:cubicBezTo>
                      <a:pt x="229075" y="155787"/>
                      <a:pt x="231286" y="164040"/>
                      <a:pt x="227560" y="170494"/>
                    </a:cubicBezTo>
                    <a:lnTo>
                      <a:pt x="214067" y="193865"/>
                    </a:lnTo>
                    <a:cubicBezTo>
                      <a:pt x="210340" y="200318"/>
                      <a:pt x="202088" y="202529"/>
                      <a:pt x="195634" y="198803"/>
                    </a:cubicBezTo>
                    <a:lnTo>
                      <a:pt x="142631" y="168186"/>
                    </a:lnTo>
                    <a:lnTo>
                      <a:pt x="142631" y="229394"/>
                    </a:lnTo>
                    <a:cubicBezTo>
                      <a:pt x="142631" y="236846"/>
                      <a:pt x="136589" y="242888"/>
                      <a:pt x="129137" y="242888"/>
                    </a:cubicBezTo>
                    <a:lnTo>
                      <a:pt x="102149" y="242888"/>
                    </a:lnTo>
                    <a:cubicBezTo>
                      <a:pt x="94697" y="242888"/>
                      <a:pt x="88656" y="236846"/>
                      <a:pt x="88656" y="229394"/>
                    </a:cubicBezTo>
                    <a:lnTo>
                      <a:pt x="88656" y="168186"/>
                    </a:lnTo>
                    <a:lnTo>
                      <a:pt x="35652" y="198790"/>
                    </a:lnTo>
                    <a:cubicBezTo>
                      <a:pt x="29198" y="202516"/>
                      <a:pt x="20946" y="200305"/>
                      <a:pt x="17220" y="193851"/>
                    </a:cubicBezTo>
                    <a:lnTo>
                      <a:pt x="3726" y="170480"/>
                    </a:lnTo>
                    <a:cubicBezTo>
                      <a:pt x="0" y="164026"/>
                      <a:pt x="2211" y="155774"/>
                      <a:pt x="8665" y="152048"/>
                    </a:cubicBezTo>
                    <a:lnTo>
                      <a:pt x="61655" y="121444"/>
                    </a:lnTo>
                    <a:lnTo>
                      <a:pt x="8665" y="90840"/>
                    </a:lnTo>
                    <a:cubicBezTo>
                      <a:pt x="2211" y="87114"/>
                      <a:pt x="0" y="78861"/>
                      <a:pt x="3726" y="72407"/>
                    </a:cubicBezTo>
                    <a:lnTo>
                      <a:pt x="17220" y="49036"/>
                    </a:lnTo>
                    <a:cubicBezTo>
                      <a:pt x="20946" y="42583"/>
                      <a:pt x="29198" y="40372"/>
                      <a:pt x="35652" y="44098"/>
                    </a:cubicBezTo>
                    <a:lnTo>
                      <a:pt x="88656" y="74688"/>
                    </a:lnTo>
                    <a:lnTo>
                      <a:pt x="88656" y="13494"/>
                    </a:lnTo>
                    <a:cubicBezTo>
                      <a:pt x="88656" y="6041"/>
                      <a:pt x="94697" y="0"/>
                      <a:pt x="102149" y="0"/>
                    </a:cubicBezTo>
                    <a:lnTo>
                      <a:pt x="129137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382952" y="274177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单例任务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386762" y="3031331"/>
                <a:ext cx="8686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0796B"/>
                    </a:solidFill>
                    <a:latin typeface="Consolas"/>
                    <a:ea typeface="Microsoft YaHei"/>
                    <a:cs typeface="Consolas"/>
                  </a:rPr>
                  <a:t>priority = 0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0304145" y="2925128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0796B"/>
                    </a:solidFill>
                    <a:latin typeface="Arial"/>
                    <a:ea typeface="Microsoft YaHei"/>
                    <a:cs typeface="Arial"/>
                  </a:rPr>
                  <a:t>优先执行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7639050" y="3638550"/>
                <a:ext cx="3657600" cy="800100"/>
              </a:xfrm>
              <a:prstGeom prst="roundRect">
                <a:avLst>
                  <a:gd name="adj" fmla="val 19048"/>
                </a:avLst>
              </a:prstGeom>
              <a:solidFill>
                <a:srgbClr val="EFEDE5"/>
              </a:solidFill>
              <a:ln w="9525">
                <a:solidFill>
                  <a:srgbClr val="D8D6CC"/>
                </a:solidFill>
              </a:ln>
            </p:spPr>
          </p:sp>
          <p:grpSp>
            <p:nvGrpSpPr>
              <p:cNvPr id="65" name="Group 65"/>
              <p:cNvGrpSpPr/>
              <p:nvPr/>
            </p:nvGrpSpPr>
            <p:grpSpPr>
              <a:xfrm>
                <a:off x="7946231" y="3907631"/>
                <a:ext cx="242888" cy="242887"/>
                <a:chOff x="7946231" y="3907631"/>
                <a:chExt cx="242888" cy="242887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7973219" y="3907631"/>
                  <a:ext cx="107950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50" h="107950">
                      <a:moveTo>
                        <a:pt x="0" y="53975"/>
                      </a:moveTo>
                      <a:cubicBezTo>
                        <a:pt x="0" y="83785"/>
                        <a:pt x="24165" y="107950"/>
                        <a:pt x="53975" y="107950"/>
                      </a:cubicBezTo>
                      <a:cubicBezTo>
                        <a:pt x="83785" y="107950"/>
                        <a:pt x="107950" y="83785"/>
                        <a:pt x="107950" y="53975"/>
                      </a:cubicBezTo>
                      <a:cubicBezTo>
                        <a:pt x="107950" y="24165"/>
                        <a:pt x="83785" y="0"/>
                        <a:pt x="53975" y="0"/>
                      </a:cubicBezTo>
                      <a:cubicBezTo>
                        <a:pt x="24165" y="0"/>
                        <a:pt x="0" y="24165"/>
                        <a:pt x="0" y="53975"/>
                      </a:cubicBezTo>
                    </a:path>
                  </a:pathLst>
                </a:custGeom>
                <a:noFill/>
                <a:ln w="19050">
                  <a:solidFill>
                    <a:srgbClr val="6B6864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7946231" y="4069556"/>
                  <a:ext cx="161925" cy="80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80962">
                      <a:moveTo>
                        <a:pt x="0" y="80962"/>
                      </a:moveTo>
                      <a:lnTo>
                        <a:pt x="0" y="53975"/>
                      </a:lnTo>
                      <a:cubicBezTo>
                        <a:pt x="0" y="24165"/>
                        <a:pt x="24165" y="0"/>
                        <a:pt x="53975" y="0"/>
                      </a:cubicBezTo>
                      <a:lnTo>
                        <a:pt x="107950" y="0"/>
                      </a:lnTo>
                      <a:cubicBezTo>
                        <a:pt x="137760" y="0"/>
                        <a:pt x="161925" y="24165"/>
                        <a:pt x="161925" y="53975"/>
                      </a:cubicBezTo>
                      <a:lnTo>
                        <a:pt x="161925" y="80962"/>
                      </a:lnTo>
                    </a:path>
                  </a:pathLst>
                </a:custGeom>
                <a:noFill/>
                <a:ln w="19050">
                  <a:solidFill>
                    <a:srgbClr val="6B6864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121650" y="3909385"/>
                  <a:ext cx="40587" cy="104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87" h="104577">
                      <a:moveTo>
                        <a:pt x="0" y="0"/>
                      </a:moveTo>
                      <a:cubicBezTo>
                        <a:pt x="23883" y="6115"/>
                        <a:pt x="40587" y="27635"/>
                        <a:pt x="40587" y="52288"/>
                      </a:cubicBezTo>
                      <a:cubicBezTo>
                        <a:pt x="40587" y="76941"/>
                        <a:pt x="23883" y="98462"/>
                        <a:pt x="0" y="104577"/>
                      </a:cubicBezTo>
                    </a:path>
                  </a:pathLst>
                </a:custGeom>
                <a:noFill/>
                <a:ln w="19050">
                  <a:solidFill>
                    <a:srgbClr val="6B6864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148638" y="4071580"/>
                  <a:ext cx="40481" cy="78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1" h="78938">
                      <a:moveTo>
                        <a:pt x="40481" y="78938"/>
                      </a:moveTo>
                      <a:lnTo>
                        <a:pt x="40481" y="51951"/>
                      </a:lnTo>
                      <a:cubicBezTo>
                        <a:pt x="40340" y="27454"/>
                        <a:pt x="23720" y="612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6B6864"/>
                  </a:solidFill>
                </a:ln>
              </p:spPr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8382952" y="38276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批量任务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386762" y="4117181"/>
                <a:ext cx="8686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priority = 5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304145" y="4010978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后台排队</a:t>
                </a:r>
              </a:p>
            </p:txBody>
          </p:sp>
          <p:sp>
            <p:nvSpPr>
              <p:cNvPr id="69" name="Line 69"/>
              <p:cNvSpPr/>
              <p:nvPr/>
            </p:nvSpPr>
            <p:spPr>
              <a:xfrm>
                <a:off x="9467850" y="3352800"/>
                <a:ext cx="1" cy="190500"/>
              </a:xfrm>
              <a:prstGeom prst="line">
                <a:avLst/>
              </a:prstGeom>
              <a:noFill/>
              <a:ln w="23812">
                <a:solidFill>
                  <a:srgbClr val="00796B"/>
                </a:solidFill>
                <a:tailEnd type="triangle" w="lg" len="lg"/>
              </a:ln>
            </p:spPr>
          </p:sp>
        </p:grpSp>
        <p:grpSp>
          <p:nvGrpSpPr>
            <p:cNvPr id="74" name="Group 74"/>
            <p:cNvGrpSpPr/>
            <p:nvPr/>
          </p:nvGrpSpPr>
          <p:grpSpPr>
            <a:xfrm>
              <a:off x="7639050" y="4876800"/>
              <a:ext cx="3657600" cy="590550"/>
              <a:chOff x="7639050" y="4876800"/>
              <a:chExt cx="3657600" cy="59055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7639050" y="4876800"/>
                <a:ext cx="3657600" cy="590550"/>
              </a:xfrm>
              <a:prstGeom prst="roundRect">
                <a:avLst>
                  <a:gd name="adj" fmla="val 25806"/>
                </a:avLst>
              </a:prstGeom>
              <a:solidFill>
                <a:srgbClr val="FCEDE8"/>
              </a:solidFill>
              <a:ln w="9525">
                <a:solidFill>
                  <a:srgbClr val="D8D6CC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7870508" y="50820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前端状态反馈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321165" y="5106352"/>
                <a:ext cx="16228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15F3C"/>
                    </a:solidFill>
                    <a:latin typeface="Consolas"/>
                    <a:ea typeface="Microsoft YaHei"/>
                    <a:cs typeface="Consolas"/>
                  </a:rPr>
                  <a:t>queued / running / done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76" name="TextBox 76"/>
            <p:cNvSpPr txBox="1"/>
            <p:nvPr/>
          </p:nvSpPr>
          <p:spPr>
            <a:xfrm>
              <a:off x="521970" y="6379845"/>
              <a:ext cx="45114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Source: backend/app/services/inference_queue.py and batch pipeline design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9110" y="375285"/>
            <a:ext cx="7043552" cy="760571"/>
            <a:chOff x="499110" y="375285"/>
            <a:chExt cx="7043552" cy="760571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375285"/>
              <a:ext cx="70435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结果解释与报告让 AI 输出进入可复核流程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112" y="907256"/>
              <a:ext cx="43791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模型输出以风险提示和复核参考形式呈现，并保留医生判断入口。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" y="1600200"/>
            <a:ext cx="11125200" cy="3124200"/>
            <a:chOff x="533400" y="1600200"/>
            <a:chExt cx="11125200" cy="3124200"/>
          </a:xfrm>
        </p:grpSpPr>
        <p:sp>
          <p:nvSpPr>
            <p:cNvPr id="6" name="Rectangle 6"/>
            <p:cNvSpPr/>
            <p:nvPr/>
          </p:nvSpPr>
          <p:spPr>
            <a:xfrm>
              <a:off x="533400" y="1600200"/>
              <a:ext cx="3333750" cy="3124200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924050"/>
              <a:ext cx="742950" cy="742950"/>
            </a:xfrm>
            <a:prstGeom prst="roundRect">
              <a:avLst>
                <a:gd name="adj" fmla="val 23077"/>
              </a:avLst>
            </a:prstGeom>
            <a:solidFill>
              <a:srgbClr val="E6F3F0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100138" y="2209800"/>
              <a:ext cx="257175" cy="171450"/>
            </a:xfrm>
            <a:custGeom>
              <a:avLst/>
              <a:gdLst/>
              <a:ahLst/>
              <a:cxnLst/>
              <a:rect l="l" t="t" r="r" b="b"/>
              <a:pathLst>
                <a:path w="257175" h="171450">
                  <a:moveTo>
                    <a:pt x="0" y="85725"/>
                  </a:moveTo>
                  <a:lnTo>
                    <a:pt x="64294" y="85725"/>
                  </a:lnTo>
                  <a:lnTo>
                    <a:pt x="85725" y="0"/>
                  </a:lnTo>
                  <a:lnTo>
                    <a:pt x="142875" y="171450"/>
                  </a:lnTo>
                  <a:lnTo>
                    <a:pt x="171450" y="42862"/>
                  </a:lnTo>
                  <a:lnTo>
                    <a:pt x="192881" y="85725"/>
                  </a:lnTo>
                  <a:lnTo>
                    <a:pt x="257175" y="85725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580" y="2849880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预测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1058" y="3291364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患者级聚合诊断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43915" y="3676650"/>
              <a:ext cx="2299335" cy="785812"/>
              <a:chOff x="843915" y="3676650"/>
              <a:chExt cx="2299335" cy="785812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843915" y="367760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正常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524000" y="3676650"/>
                <a:ext cx="161925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FEDE5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1524000" y="3676650"/>
                <a:ext cx="10287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3B6D1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43915" y="39633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内膜癌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524000" y="3962400"/>
                <a:ext cx="161925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FEDE5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1524000" y="3962400"/>
                <a:ext cx="40005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A32D2D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43915" y="424910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864"/>
                    </a:solidFill>
                    <a:latin typeface="Arial"/>
                    <a:ea typeface="Microsoft YaHei"/>
                    <a:cs typeface="Arial"/>
                  </a:rPr>
                  <a:t>息肉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524000" y="4248150"/>
                <a:ext cx="161925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FEDE5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524000" y="4248150"/>
                <a:ext cx="6477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854F0B"/>
              </a:solidFill>
              <a:ln>
                <a:noFill/>
              </a:ln>
            </p:spPr>
          </p:sp>
        </p:grpSp>
        <p:sp>
          <p:nvSpPr>
            <p:cNvPr id="21" name="Line 21"/>
            <p:cNvSpPr/>
            <p:nvPr/>
          </p:nvSpPr>
          <p:spPr>
            <a:xfrm>
              <a:off x="3962400" y="3162300"/>
              <a:ext cx="53340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91050" y="1600200"/>
              <a:ext cx="3333750" cy="3124200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14900" y="1924050"/>
              <a:ext cx="742950" cy="742950"/>
            </a:xfrm>
            <a:prstGeom prst="roundRect">
              <a:avLst>
                <a:gd name="adj" fmla="val 23077"/>
              </a:avLst>
            </a:prstGeom>
            <a:solidFill>
              <a:srgbClr val="FCEDE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157788" y="2166938"/>
              <a:ext cx="257174" cy="257174"/>
              <a:chOff x="5157788" y="2166938"/>
              <a:chExt cx="257174" cy="25717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286375" y="2309812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64294"/>
                    </a:lnTo>
                    <a:cubicBezTo>
                      <a:pt x="0" y="91911"/>
                      <a:pt x="22389" y="114300"/>
                      <a:pt x="50006" y="114300"/>
                    </a:cubicBezTo>
                    <a:cubicBezTo>
                      <a:pt x="77624" y="114300"/>
                      <a:pt x="100012" y="91911"/>
                      <a:pt x="100012" y="64294"/>
                    </a:cubicBezTo>
                    <a:lnTo>
                      <a:pt x="100012" y="38576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186362" y="2309812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64294"/>
                    </a:lnTo>
                    <a:cubicBezTo>
                      <a:pt x="100012" y="91911"/>
                      <a:pt x="77624" y="114300"/>
                      <a:pt x="50006" y="114300"/>
                    </a:cubicBezTo>
                    <a:cubicBezTo>
                      <a:pt x="22389" y="114300"/>
                      <a:pt x="0" y="91911"/>
                      <a:pt x="0" y="64294"/>
                    </a:cubicBezTo>
                    <a:lnTo>
                      <a:pt x="0" y="38576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357812" y="2252662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7144" y="100012"/>
                    </a:moveTo>
                    <a:cubicBezTo>
                      <a:pt x="34761" y="100012"/>
                      <a:pt x="57150" y="77624"/>
                      <a:pt x="57150" y="50006"/>
                    </a:cubicBezTo>
                    <a:cubicBezTo>
                      <a:pt x="57150" y="22389"/>
                      <a:pt x="34761" y="0"/>
                      <a:pt x="7144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286375" y="2166938"/>
                <a:ext cx="100012" cy="9001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0011">
                    <a:moveTo>
                      <a:pt x="100012" y="90011"/>
                    </a:moveTo>
                    <a:lnTo>
                      <a:pt x="100012" y="50006"/>
                    </a:ln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157788" y="2252662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50006" y="100012"/>
                    </a:move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186362" y="2166938"/>
                <a:ext cx="100012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92881">
                    <a:moveTo>
                      <a:pt x="0" y="90011"/>
                    </a:move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192881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888230" y="2849880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解释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98708" y="3291364"/>
              <a:ext cx="16900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逐图预测 + Grad-CAM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914900" y="3695700"/>
              <a:ext cx="914400" cy="666750"/>
            </a:xfrm>
            <a:prstGeom prst="roundRect">
              <a:avLst>
                <a:gd name="adj" fmla="val 17143"/>
              </a:avLst>
            </a:prstGeom>
            <a:solidFill>
              <a:srgbClr val="EFEDE5"/>
            </a:solidFill>
            <a:ln w="9525">
              <a:solidFill>
                <a:srgbClr val="D8D6CC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162550" y="3810000"/>
              <a:ext cx="495300" cy="285750"/>
            </a:xfrm>
            <a:custGeom>
              <a:avLst/>
              <a:gdLst/>
              <a:ahLst/>
              <a:cxnLst/>
              <a:rect l="l" t="t" r="r" b="b"/>
              <a:pathLst>
                <a:path w="495300" h="285750">
                  <a:moveTo>
                    <a:pt x="0" y="285750"/>
                  </a:moveTo>
                  <a:cubicBezTo>
                    <a:pt x="95250" y="0"/>
                    <a:pt x="419100" y="0"/>
                    <a:pt x="495300" y="285750"/>
                  </a:cubicBezTo>
                </a:path>
              </a:pathLst>
            </a:custGeom>
            <a:noFill/>
            <a:ln w="28575">
              <a:solidFill>
                <a:srgbClr val="C15F3C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5295900" y="3933825"/>
              <a:ext cx="228600" cy="228600"/>
            </a:xfrm>
            <a:prstGeom prst="ellipse">
              <a:avLst/>
            </a:prstGeom>
            <a:solidFill>
              <a:srgbClr val="C15F3C">
                <a:alpha val="28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57900" y="3695700"/>
              <a:ext cx="1428750" cy="171450"/>
            </a:xfrm>
            <a:prstGeom prst="roundRect">
              <a:avLst>
                <a:gd name="adj" fmla="val 50000"/>
              </a:avLst>
            </a:prstGeom>
            <a:solidFill>
              <a:srgbClr val="E6F3F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57900" y="4000500"/>
              <a:ext cx="1047750" cy="171450"/>
            </a:xfrm>
            <a:prstGeom prst="roundRect">
              <a:avLst>
                <a:gd name="adj" fmla="val 50000"/>
              </a:avLst>
            </a:prstGeom>
            <a:solidFill>
              <a:srgbClr val="FCEDE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57900" y="4305300"/>
              <a:ext cx="1257300" cy="171450"/>
            </a:xfrm>
            <a:prstGeom prst="roundRect">
              <a:avLst>
                <a:gd name="adj" fmla="val 50000"/>
              </a:avLst>
            </a:prstGeom>
            <a:solidFill>
              <a:srgbClr val="E6F1FB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8020050" y="3162300"/>
              <a:ext cx="53340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48700" y="1600200"/>
              <a:ext cx="3009900" cy="3124200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72550" y="1924050"/>
              <a:ext cx="742950" cy="742950"/>
            </a:xfrm>
            <a:prstGeom prst="roundRect">
              <a:avLst>
                <a:gd name="adj" fmla="val 23077"/>
              </a:avLst>
            </a:prstGeom>
            <a:solidFill>
              <a:srgbClr val="E6F1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244012" y="2166938"/>
              <a:ext cx="200025" cy="257174"/>
              <a:chOff x="9244012" y="2166938"/>
              <a:chExt cx="200025" cy="257174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244012" y="2195512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01162" y="21669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315450" y="23241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344025" y="2295525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945880" y="2849880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报告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56358" y="3291364"/>
              <a:ext cx="14350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中文 PDF 诊断报告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972550" y="3733800"/>
              <a:ext cx="2038350" cy="762000"/>
            </a:xfrm>
            <a:prstGeom prst="roundRect">
              <a:avLst>
                <a:gd name="adj" fmla="val 15000"/>
              </a:avLst>
            </a:prstGeom>
            <a:solidFill>
              <a:srgbClr val="F7F6F0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9239250" y="4000500"/>
              <a:ext cx="228600" cy="228600"/>
              <a:chOff x="9239250" y="4000500"/>
              <a:chExt cx="228600" cy="2286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9366250" y="41275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417050" y="41275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0" y="50800"/>
                    </a:lnTo>
                    <a:lnTo>
                      <a:pt x="50800" y="5080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353550" y="40005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239250" y="4000500"/>
                <a:ext cx="1778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600">
                    <a:moveTo>
                      <a:pt x="107950" y="228600"/>
                    </a:moveTo>
                    <a:lnTo>
                      <a:pt x="25400" y="228600"/>
                    </a:lnTo>
                    <a:cubicBezTo>
                      <a:pt x="11372" y="228600"/>
                      <a:pt x="0" y="217228"/>
                      <a:pt x="0" y="203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88900"/>
                    </a:lnTo>
                    <a:moveTo>
                      <a:pt x="177800" y="127000"/>
                    </a:moveTo>
                    <a:lnTo>
                      <a:pt x="177800" y="17780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9625965" y="4020502"/>
              <a:ext cx="7967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report.pdf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26918" y="4257199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归档 / 沟通 / 复核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543050" y="5219700"/>
            <a:ext cx="9105900" cy="552450"/>
            <a:chOff x="1543050" y="5219700"/>
            <a:chExt cx="9105900" cy="552450"/>
          </a:xfrm>
        </p:grpSpPr>
        <p:sp>
          <p:nvSpPr>
            <p:cNvPr id="58" name="Rectangle 58"/>
            <p:cNvSpPr/>
            <p:nvPr/>
          </p:nvSpPr>
          <p:spPr>
            <a:xfrm>
              <a:off x="1543050" y="5219700"/>
              <a:ext cx="9105900" cy="552450"/>
            </a:xfrm>
            <a:prstGeom prst="roundRect">
              <a:avLst>
                <a:gd name="adj" fmla="val 31034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905014" y="5405438"/>
              <a:ext cx="190471" cy="200025"/>
            </a:xfrm>
            <a:custGeom>
              <a:avLst/>
              <a:gdLst/>
              <a:ahLst/>
              <a:cxnLst/>
              <a:rect l="l" t="t" r="r" b="b"/>
              <a:pathLst>
                <a:path w="190471" h="200025">
                  <a:moveTo>
                    <a:pt x="106348" y="0"/>
                  </a:moveTo>
                  <a:cubicBezTo>
                    <a:pt x="112485" y="0"/>
                    <a:pt x="117461" y="4975"/>
                    <a:pt x="117461" y="11112"/>
                  </a:cubicBezTo>
                  <a:lnTo>
                    <a:pt x="117461" y="61508"/>
                  </a:lnTo>
                  <a:lnTo>
                    <a:pt x="161110" y="36316"/>
                  </a:lnTo>
                  <a:cubicBezTo>
                    <a:pt x="166425" y="33247"/>
                    <a:pt x="173221" y="35068"/>
                    <a:pt x="176290" y="40383"/>
                  </a:cubicBezTo>
                  <a:lnTo>
                    <a:pt x="187403" y="59630"/>
                  </a:lnTo>
                  <a:cubicBezTo>
                    <a:pt x="190471" y="64945"/>
                    <a:pt x="188650" y="71741"/>
                    <a:pt x="183335" y="74809"/>
                  </a:cubicBezTo>
                  <a:lnTo>
                    <a:pt x="139697" y="100012"/>
                  </a:lnTo>
                  <a:lnTo>
                    <a:pt x="183335" y="125227"/>
                  </a:lnTo>
                  <a:cubicBezTo>
                    <a:pt x="188650" y="128295"/>
                    <a:pt x="190471" y="135092"/>
                    <a:pt x="187403" y="140406"/>
                  </a:cubicBezTo>
                  <a:lnTo>
                    <a:pt x="176290" y="159653"/>
                  </a:lnTo>
                  <a:cubicBezTo>
                    <a:pt x="173221" y="164968"/>
                    <a:pt x="166425" y="166789"/>
                    <a:pt x="161110" y="163720"/>
                  </a:cubicBezTo>
                  <a:lnTo>
                    <a:pt x="117461" y="138506"/>
                  </a:lnTo>
                  <a:lnTo>
                    <a:pt x="117461" y="188913"/>
                  </a:lnTo>
                  <a:cubicBezTo>
                    <a:pt x="117461" y="195050"/>
                    <a:pt x="112485" y="200025"/>
                    <a:pt x="106348" y="200025"/>
                  </a:cubicBezTo>
                  <a:lnTo>
                    <a:pt x="84123" y="200025"/>
                  </a:lnTo>
                  <a:cubicBezTo>
                    <a:pt x="77986" y="200025"/>
                    <a:pt x="73011" y="195050"/>
                    <a:pt x="73011" y="188913"/>
                  </a:cubicBezTo>
                  <a:lnTo>
                    <a:pt x="73011" y="138506"/>
                  </a:lnTo>
                  <a:lnTo>
                    <a:pt x="29361" y="163709"/>
                  </a:lnTo>
                  <a:cubicBezTo>
                    <a:pt x="24046" y="166778"/>
                    <a:pt x="17250" y="164957"/>
                    <a:pt x="14181" y="159642"/>
                  </a:cubicBezTo>
                  <a:lnTo>
                    <a:pt x="3068" y="140395"/>
                  </a:lnTo>
                  <a:cubicBezTo>
                    <a:pt x="0" y="135080"/>
                    <a:pt x="1821" y="128284"/>
                    <a:pt x="7136" y="125216"/>
                  </a:cubicBezTo>
                  <a:lnTo>
                    <a:pt x="50774" y="100012"/>
                  </a:lnTo>
                  <a:lnTo>
                    <a:pt x="7136" y="74809"/>
                  </a:lnTo>
                  <a:cubicBezTo>
                    <a:pt x="1821" y="71741"/>
                    <a:pt x="0" y="64945"/>
                    <a:pt x="3068" y="59630"/>
                  </a:cubicBezTo>
                  <a:lnTo>
                    <a:pt x="14181" y="40383"/>
                  </a:lnTo>
                  <a:cubicBezTo>
                    <a:pt x="17250" y="35068"/>
                    <a:pt x="24046" y="33247"/>
                    <a:pt x="29361" y="36316"/>
                  </a:cubicBezTo>
                  <a:lnTo>
                    <a:pt x="73011" y="61508"/>
                  </a:lnTo>
                  <a:lnTo>
                    <a:pt x="73011" y="11112"/>
                  </a:lnTo>
                  <a:cubicBezTo>
                    <a:pt x="73011" y="4975"/>
                    <a:pt x="77986" y="0"/>
                    <a:pt x="84123" y="0"/>
                  </a:cubicBezTo>
                  <a:lnTo>
                    <a:pt x="106348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306955" y="5416868"/>
              <a:ext cx="58220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医生判断、病理结果和临床流程仍是最终依据；AI 输出只作为复核参考。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21970" y="6379845"/>
              <a:ext cx="25371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Source: Grad-CAM and report_pdf services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9110" y="375285"/>
            <a:ext cx="8007572" cy="760571"/>
            <a:chOff x="499110" y="375285"/>
            <a:chExt cx="8007572" cy="760571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37528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前后端、任务队列、模型服务共同支撑临床闭环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112" y="907256"/>
              <a:ext cx="3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工程架构围绕可部署、可追踪、可恢复的医院场景设计。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33400" y="1447800"/>
            <a:ext cx="11125200" cy="4171950"/>
            <a:chOff x="533400" y="1447800"/>
            <a:chExt cx="11125200" cy="4171950"/>
          </a:xfrm>
        </p:grpSpPr>
        <p:sp>
          <p:nvSpPr>
            <p:cNvPr id="6" name="Rectangle 6"/>
            <p:cNvSpPr/>
            <p:nvPr/>
          </p:nvSpPr>
          <p:spPr>
            <a:xfrm>
              <a:off x="533400" y="1447800"/>
              <a:ext cx="11125200" cy="4171950"/>
            </a:xfrm>
            <a:prstGeom prst="roundRect">
              <a:avLst>
                <a:gd name="adj" fmla="val 4566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79455" y="2000250"/>
              <a:ext cx="1746290" cy="2819400"/>
              <a:chOff x="879455" y="2000250"/>
              <a:chExt cx="1746290" cy="28194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895350" y="2000250"/>
                <a:ext cx="1714500" cy="2819400"/>
              </a:xfrm>
              <a:prstGeom prst="roundRect">
                <a:avLst>
                  <a:gd name="adj" fmla="val 8889"/>
                </a:avLst>
              </a:prstGeom>
              <a:solidFill>
                <a:srgbClr val="E6F3F0"/>
              </a:solidFill>
              <a:ln w="9525">
                <a:solidFill>
                  <a:srgbClr val="D8D6CC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151215" y="2197894"/>
                <a:ext cx="1202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75" b="1" dirty="0">
                    <a:solidFill>
                      <a:srgbClr val="1F1E1D"/>
                    </a:solidFill>
                    <a:latin typeface="Georgia"/>
                    <a:ea typeface="Microsoft YaHei"/>
                    <a:cs typeface="Georgia"/>
                  </a:rPr>
                  <a:t>Frontend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448729" y="2591752"/>
                <a:ext cx="6077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React 19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71719" y="2820352"/>
                <a:ext cx="761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TypeScript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02748" y="3048952"/>
                <a:ext cx="2997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Vite</a:t>
                </a:r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1538288" y="3733800"/>
                <a:ext cx="428625" cy="390525"/>
                <a:chOff x="1538288" y="3733800"/>
                <a:chExt cx="428625" cy="39052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538288" y="3733800"/>
                  <a:ext cx="428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5" h="9525">
                      <a:moveTo>
                        <a:pt x="0" y="0"/>
                      </a:moveTo>
                      <a:lnTo>
                        <a:pt x="428625" y="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562100" y="3733800"/>
                  <a:ext cx="38100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285750">
                      <a:moveTo>
                        <a:pt x="0" y="0"/>
                      </a:moveTo>
                      <a:lnTo>
                        <a:pt x="0" y="238125"/>
                      </a:lnTo>
                      <a:cubicBezTo>
                        <a:pt x="0" y="264428"/>
                        <a:pt x="21322" y="285750"/>
                        <a:pt x="47625" y="285750"/>
                      </a:cubicBezTo>
                      <a:lnTo>
                        <a:pt x="333375" y="285750"/>
                      </a:lnTo>
                      <a:cubicBezTo>
                        <a:pt x="359678" y="285750"/>
                        <a:pt x="381000" y="264428"/>
                        <a:pt x="381000" y="238125"/>
                      </a:cubicBezTo>
                      <a:lnTo>
                        <a:pt x="381000" y="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752600" y="4019550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681162" y="4114800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657350" y="3829050"/>
                  <a:ext cx="1905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0">
                      <a:moveTo>
                        <a:pt x="0" y="95250"/>
                      </a:moveTo>
                      <a:lnTo>
                        <a:pt x="71438" y="23812"/>
                      </a:lnTo>
                      <a:lnTo>
                        <a:pt x="119062" y="71438"/>
                      </a:ln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879455" y="4374356"/>
                <a:ext cx="174629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单例 / 批量 / 历史 / 管理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2609850" y="3409950"/>
              <a:ext cx="60960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3314700" y="2000250"/>
              <a:ext cx="1809750" cy="2819400"/>
              <a:chOff x="3314700" y="2000250"/>
              <a:chExt cx="1809750" cy="28194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314700" y="2000250"/>
                <a:ext cx="1809750" cy="2819400"/>
              </a:xfrm>
              <a:prstGeom prst="roundRect">
                <a:avLst>
                  <a:gd name="adj" fmla="val 8421"/>
                </a:avLst>
              </a:prstGeom>
              <a:solidFill>
                <a:srgbClr val="E6F1FB"/>
              </a:solidFill>
              <a:ln w="9525">
                <a:solidFill>
                  <a:srgbClr val="D8D6CC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011990" y="2197894"/>
                <a:ext cx="41517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75" b="1" dirty="0">
                    <a:solidFill>
                      <a:srgbClr val="1F1E1D"/>
                    </a:solidFill>
                    <a:latin typeface="Georgia"/>
                    <a:ea typeface="Microsoft YaHei"/>
                    <a:cs typeface="Georgia"/>
                  </a:rPr>
                  <a:t>API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954208" y="2591752"/>
                <a:ext cx="5307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FastAPI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810691" y="2820352"/>
                <a:ext cx="8177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SQLAlchemy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96689" y="3048952"/>
                <a:ext cx="8457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Auth / Audit</a:t>
                </a:r>
              </a:p>
            </p:txBody>
          </p:sp>
          <p:grpSp>
            <p:nvGrpSpPr>
              <p:cNvPr id="30" name="Group 30"/>
              <p:cNvGrpSpPr/>
              <p:nvPr/>
            </p:nvGrpSpPr>
            <p:grpSpPr>
              <a:xfrm>
                <a:off x="4005262" y="3733800"/>
                <a:ext cx="428625" cy="381000"/>
                <a:chOff x="4005262" y="3733800"/>
                <a:chExt cx="428625" cy="3810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4005262" y="3733800"/>
                  <a:ext cx="4286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5" h="190500">
                      <a:moveTo>
                        <a:pt x="0" y="71438"/>
                      </a:moveTo>
                      <a:cubicBezTo>
                        <a:pt x="0" y="31984"/>
                        <a:pt x="31984" y="0"/>
                        <a:pt x="71438" y="0"/>
                      </a:cubicBezTo>
                      <a:lnTo>
                        <a:pt x="357188" y="0"/>
                      </a:lnTo>
                      <a:cubicBezTo>
                        <a:pt x="396641" y="0"/>
                        <a:pt x="428625" y="31984"/>
                        <a:pt x="428625" y="71438"/>
                      </a:cubicBezTo>
                      <a:lnTo>
                        <a:pt x="428625" y="119062"/>
                      </a:lnTo>
                      <a:cubicBezTo>
                        <a:pt x="428625" y="158516"/>
                        <a:pt x="396641" y="190500"/>
                        <a:pt x="357188" y="190500"/>
                      </a:cubicBezTo>
                      <a:lnTo>
                        <a:pt x="71438" y="190500"/>
                      </a:lnTo>
                      <a:cubicBezTo>
                        <a:pt x="31984" y="190500"/>
                        <a:pt x="0" y="158516"/>
                        <a:pt x="0" y="119062"/>
                      </a:cubicBez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005262" y="3924300"/>
                  <a:ext cx="4286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5" h="190500">
                      <a:moveTo>
                        <a:pt x="0" y="71438"/>
                      </a:moveTo>
                      <a:cubicBezTo>
                        <a:pt x="0" y="31984"/>
                        <a:pt x="31984" y="0"/>
                        <a:pt x="71438" y="0"/>
                      </a:cubicBezTo>
                      <a:lnTo>
                        <a:pt x="357188" y="0"/>
                      </a:lnTo>
                      <a:cubicBezTo>
                        <a:pt x="396641" y="0"/>
                        <a:pt x="428625" y="31984"/>
                        <a:pt x="428625" y="71438"/>
                      </a:cubicBezTo>
                      <a:lnTo>
                        <a:pt x="428625" y="119062"/>
                      </a:lnTo>
                      <a:cubicBezTo>
                        <a:pt x="428625" y="158516"/>
                        <a:pt x="396641" y="190500"/>
                        <a:pt x="357188" y="190500"/>
                      </a:cubicBezTo>
                      <a:lnTo>
                        <a:pt x="71438" y="190500"/>
                      </a:lnTo>
                      <a:cubicBezTo>
                        <a:pt x="31984" y="190500"/>
                        <a:pt x="0" y="158516"/>
                        <a:pt x="0" y="119062"/>
                      </a:cubicBezTo>
                      <a:lnTo>
                        <a:pt x="0" y="71438"/>
                      </a:ln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100512" y="38290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238"/>
                      </a:ln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100512" y="40195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238"/>
                      </a:lnTo>
                    </a:path>
                  </a:pathLst>
                </a:custGeom>
                <a:noFill/>
                <a:ln w="19050">
                  <a:solidFill>
                    <a:srgbClr val="2F7C95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3428940" y="4374356"/>
                <a:ext cx="15812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/api/* 路由与静态服务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5124450" y="3409950"/>
              <a:ext cx="6286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848350" y="2000250"/>
              <a:ext cx="1809750" cy="2819400"/>
              <a:chOff x="5848350" y="2000250"/>
              <a:chExt cx="1809750" cy="2819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848350" y="2000250"/>
                <a:ext cx="1809750" cy="2819400"/>
              </a:xfrm>
              <a:prstGeom prst="roundRect">
                <a:avLst>
                  <a:gd name="adj" fmla="val 8421"/>
                </a:avLst>
              </a:prstGeom>
              <a:solidFill>
                <a:srgbClr val="FCEDE8"/>
              </a:solidFill>
              <a:ln w="9525">
                <a:solidFill>
                  <a:srgbClr val="D8D6CC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342177" y="2197894"/>
                <a:ext cx="82209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75" b="1" dirty="0">
                    <a:solidFill>
                      <a:srgbClr val="1F1E1D"/>
                    </a:solidFill>
                    <a:latin typeface="Georgia"/>
                    <a:ea typeface="Microsoft YaHei"/>
                    <a:cs typeface="Georgia"/>
                  </a:rPr>
                  <a:t>Queue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291834" y="2591752"/>
                <a:ext cx="9227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priority heap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277832" y="2820352"/>
                <a:ext cx="9507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single worker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333839" y="3048952"/>
                <a:ext cx="8387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task status</a:t>
                </a:r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6538912" y="3709988"/>
                <a:ext cx="428626" cy="428624"/>
                <a:chOff x="6538912" y="3709988"/>
                <a:chExt cx="428626" cy="428624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538912" y="4043362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872288" y="3709988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47625" y="95250"/>
                      </a:move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  <a:cubicBezTo>
                        <a:pt x="0" y="73928"/>
                        <a:pt x="21322" y="95250"/>
                        <a:pt x="47625" y="95250"/>
                      </a:cubicBez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6586538" y="3757612"/>
                  <a:ext cx="357188" cy="3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88" h="333375">
                      <a:moveTo>
                        <a:pt x="142875" y="333375"/>
                      </a:moveTo>
                      <a:lnTo>
                        <a:pt x="273844" y="333375"/>
                      </a:lnTo>
                      <a:cubicBezTo>
                        <a:pt x="319873" y="333375"/>
                        <a:pt x="357188" y="296061"/>
                        <a:pt x="357188" y="250031"/>
                      </a:cubicBezTo>
                      <a:cubicBezTo>
                        <a:pt x="357188" y="204002"/>
                        <a:pt x="319873" y="166688"/>
                        <a:pt x="273844" y="166688"/>
                      </a:cubicBezTo>
                      <a:lnTo>
                        <a:pt x="83344" y="166688"/>
                      </a:lnTo>
                      <a:cubicBezTo>
                        <a:pt x="37314" y="166688"/>
                        <a:pt x="0" y="129373"/>
                        <a:pt x="0" y="83344"/>
                      </a:cubicBezTo>
                      <a:cubicBezTo>
                        <a:pt x="0" y="37314"/>
                        <a:pt x="37314" y="0"/>
                        <a:pt x="83344" y="0"/>
                      </a:cubicBez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C15F3C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6063853" y="43743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单例优先，批量后台</a:t>
                </a:r>
              </a:p>
            </p:txBody>
          </p:sp>
        </p:grpSp>
        <p:sp>
          <p:nvSpPr>
            <p:cNvPr id="45" name="Line 45"/>
            <p:cNvSpPr/>
            <p:nvPr/>
          </p:nvSpPr>
          <p:spPr>
            <a:xfrm>
              <a:off x="7658100" y="3409950"/>
              <a:ext cx="6286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382000" y="2000250"/>
              <a:ext cx="1809750" cy="2819400"/>
              <a:chOff x="8382000" y="2000250"/>
              <a:chExt cx="1809750" cy="2819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8382000" y="2000250"/>
                <a:ext cx="1809750" cy="2819400"/>
              </a:xfrm>
              <a:prstGeom prst="roundRect">
                <a:avLst>
                  <a:gd name="adj" fmla="val 8421"/>
                </a:avLst>
              </a:prstGeom>
              <a:solidFill>
                <a:srgbClr val="FFFFFF"/>
              </a:solidFill>
              <a:ln w="19050">
                <a:solidFill>
                  <a:srgbClr val="00796B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757687" y="2197894"/>
                <a:ext cx="105837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75" b="1" dirty="0">
                    <a:solidFill>
                      <a:srgbClr val="1F1E1D"/>
                    </a:solidFill>
                    <a:latin typeface="Georgia"/>
                    <a:ea typeface="Microsoft YaHei"/>
                    <a:cs typeface="Georgia"/>
                  </a:rPr>
                  <a:t>AI Model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867489" y="2591752"/>
                <a:ext cx="8387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PyTorch CPU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730972" y="2820352"/>
                <a:ext cx="111180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EfficientNet-B3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849987" y="3048952"/>
                <a:ext cx="8737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Medical BERT</a:t>
                </a:r>
              </a:p>
            </p:txBody>
          </p:sp>
          <p:grpSp>
            <p:nvGrpSpPr>
              <p:cNvPr id="57" name="Group 57"/>
              <p:cNvGrpSpPr/>
              <p:nvPr/>
            </p:nvGrpSpPr>
            <p:grpSpPr>
              <a:xfrm>
                <a:off x="9072562" y="3709988"/>
                <a:ext cx="428626" cy="428624"/>
                <a:chOff x="9072562" y="3709988"/>
                <a:chExt cx="428626" cy="428624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9286875" y="3948112"/>
                  <a:ext cx="166688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90500">
                      <a:moveTo>
                        <a:pt x="83344" y="0"/>
                      </a:moveTo>
                      <a:cubicBezTo>
                        <a:pt x="37314" y="0"/>
                        <a:pt x="0" y="37314"/>
                        <a:pt x="0" y="83344"/>
                      </a:cubicBezTo>
                      <a:lnTo>
                        <a:pt x="0" y="107156"/>
                      </a:lnTo>
                      <a:cubicBezTo>
                        <a:pt x="0" y="153186"/>
                        <a:pt x="37314" y="190500"/>
                        <a:pt x="83344" y="190500"/>
                      </a:cubicBezTo>
                      <a:cubicBezTo>
                        <a:pt x="129373" y="190500"/>
                        <a:pt x="166688" y="153186"/>
                        <a:pt x="166688" y="107156"/>
                      </a:cubicBezTo>
                      <a:lnTo>
                        <a:pt x="166688" y="64294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9120188" y="3948112"/>
                  <a:ext cx="166688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90500">
                      <a:moveTo>
                        <a:pt x="83344" y="0"/>
                      </a:moveTo>
                      <a:cubicBezTo>
                        <a:pt x="129373" y="0"/>
                        <a:pt x="166688" y="37314"/>
                        <a:pt x="166688" y="83344"/>
                      </a:cubicBezTo>
                      <a:lnTo>
                        <a:pt x="166688" y="107156"/>
                      </a:lnTo>
                      <a:cubicBezTo>
                        <a:pt x="166688" y="153186"/>
                        <a:pt x="129373" y="190500"/>
                        <a:pt x="83344" y="190500"/>
                      </a:cubicBezTo>
                      <a:cubicBezTo>
                        <a:pt x="37314" y="190500"/>
                        <a:pt x="0" y="153186"/>
                        <a:pt x="0" y="107156"/>
                      </a:cubicBezTo>
                      <a:lnTo>
                        <a:pt x="0" y="64294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9405938" y="3852862"/>
                  <a:ext cx="95250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66688">
                      <a:moveTo>
                        <a:pt x="11906" y="166688"/>
                      </a:moveTo>
                      <a:cubicBezTo>
                        <a:pt x="57936" y="166688"/>
                        <a:pt x="95250" y="129373"/>
                        <a:pt x="95250" y="83344"/>
                      </a:cubicBezTo>
                      <a:cubicBezTo>
                        <a:pt x="95250" y="37314"/>
                        <a:pt x="57936" y="0"/>
                        <a:pt x="11906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9286875" y="3709988"/>
                  <a:ext cx="166688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50019">
                      <a:moveTo>
                        <a:pt x="166688" y="150019"/>
                      </a:moveTo>
                      <a:lnTo>
                        <a:pt x="166688" y="83344"/>
                      </a:lnTo>
                      <a:cubicBezTo>
                        <a:pt x="166688" y="37314"/>
                        <a:pt x="129373" y="0"/>
                        <a:pt x="83344" y="0"/>
                      </a:cubicBezTo>
                      <a:cubicBezTo>
                        <a:pt x="37314" y="0"/>
                        <a:pt x="0" y="37314"/>
                        <a:pt x="0" y="83344"/>
                      </a:cubicBez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9072562" y="3852862"/>
                  <a:ext cx="95250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66688">
                      <a:moveTo>
                        <a:pt x="83344" y="166688"/>
                      </a:moveTo>
                      <a:cubicBezTo>
                        <a:pt x="37314" y="166688"/>
                        <a:pt x="0" y="129373"/>
                        <a:pt x="0" y="83344"/>
                      </a:cubicBezTo>
                      <a:cubicBezTo>
                        <a:pt x="0" y="37314"/>
                        <a:pt x="37314" y="0"/>
                        <a:pt x="83344" y="0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9120188" y="3709988"/>
                  <a:ext cx="166688" cy="321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321469">
                      <a:moveTo>
                        <a:pt x="0" y="150019"/>
                      </a:moveTo>
                      <a:lnTo>
                        <a:pt x="0" y="83344"/>
                      </a:lnTo>
                      <a:cubicBezTo>
                        <a:pt x="0" y="37314"/>
                        <a:pt x="37314" y="0"/>
                        <a:pt x="83344" y="0"/>
                      </a:cubicBezTo>
                      <a:cubicBezTo>
                        <a:pt x="129373" y="0"/>
                        <a:pt x="166688" y="37314"/>
                        <a:pt x="166688" y="83344"/>
                      </a:cubicBezTo>
                      <a:lnTo>
                        <a:pt x="166688" y="321469"/>
                      </a:lnTo>
                    </a:path>
                  </a:pathLst>
                </a:custGeom>
                <a:noFill/>
                <a:ln w="19050">
                  <a:solidFill>
                    <a:srgbClr val="00796B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616255" y="4374356"/>
                <a:ext cx="134123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1F1E1D"/>
                    </a:solidFill>
                    <a:latin typeface="Arial"/>
                    <a:ea typeface="Microsoft YaHei"/>
                    <a:cs typeface="Arial"/>
                  </a:rPr>
                  <a:t>三分类 + Grad-CAM</a:t>
                </a:r>
              </a:p>
            </p:txBody>
          </p:sp>
        </p:grpSp>
        <p:sp>
          <p:nvSpPr>
            <p:cNvPr id="60" name="Line 60"/>
            <p:cNvSpPr/>
            <p:nvPr/>
          </p:nvSpPr>
          <p:spPr>
            <a:xfrm>
              <a:off x="10191750" y="3409950"/>
              <a:ext cx="38100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10629900" y="2000250"/>
              <a:ext cx="723900" cy="2819400"/>
              <a:chOff x="10629900" y="2000250"/>
              <a:chExt cx="723900" cy="28194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10629900" y="2000250"/>
                <a:ext cx="723900" cy="2819400"/>
              </a:xfrm>
              <a:prstGeom prst="roundRect">
                <a:avLst>
                  <a:gd name="adj" fmla="val 21053"/>
                </a:avLst>
              </a:prstGeom>
              <a:solidFill>
                <a:srgbClr val="EFEDE5"/>
              </a:solidFill>
              <a:ln w="9525">
                <a:solidFill>
                  <a:srgbClr val="D8D6CC"/>
                </a:solidFill>
              </a:ln>
            </p:spPr>
          </p:sp>
          <p:grpSp>
            <p:nvGrpSpPr>
              <p:cNvPr id="65" name="Group 65"/>
              <p:cNvGrpSpPr/>
              <p:nvPr/>
            </p:nvGrpSpPr>
            <p:grpSpPr>
              <a:xfrm>
                <a:off x="10890250" y="2419350"/>
                <a:ext cx="203200" cy="228600"/>
                <a:chOff x="10890250" y="2419350"/>
                <a:chExt cx="203200" cy="22860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10890250" y="2419350"/>
                  <a:ext cx="203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200" y="59142"/>
                        <a:pt x="203200" y="38100"/>
                      </a:cubicBezTo>
                      <a:cubicBezTo>
                        <a:pt x="203200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6B6864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10890250" y="2457450"/>
                  <a:ext cx="203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200" y="97242"/>
                        <a:pt x="203200" y="76200"/>
                      </a:cubicBezTo>
                      <a:lnTo>
                        <a:pt x="203200" y="0"/>
                      </a:lnTo>
                    </a:path>
                  </a:pathLst>
                </a:custGeom>
                <a:noFill/>
                <a:ln w="19050">
                  <a:solidFill>
                    <a:srgbClr val="6B6864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10890250" y="2533650"/>
                  <a:ext cx="203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200" y="97242"/>
                        <a:pt x="203200" y="76200"/>
                      </a:cubicBezTo>
                      <a:lnTo>
                        <a:pt x="203200" y="0"/>
                      </a:lnTo>
                    </a:path>
                  </a:pathLst>
                </a:custGeom>
                <a:noFill/>
                <a:ln w="19050">
                  <a:solidFill>
                    <a:srgbClr val="6B6864"/>
                  </a:solidFill>
                </a:ln>
              </p:spPr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10768191" y="2923699"/>
                <a:ext cx="44731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SQLite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0859202" y="3152299"/>
                <a:ext cx="2652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WAL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745438" y="3609499"/>
                <a:ext cx="4928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uploads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716185" y="3838099"/>
                <a:ext cx="5513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6864"/>
                    </a:solidFill>
                    <a:latin typeface="Consolas"/>
                    <a:ea typeface="Microsoft YaHei"/>
                    <a:cs typeface="Consolas"/>
                  </a:rPr>
                  <a:t>gradcam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1276350" y="5162550"/>
            <a:ext cx="9639300" cy="514350"/>
            <a:chOff x="1276350" y="5162550"/>
            <a:chExt cx="9639300" cy="514350"/>
          </a:xfrm>
        </p:grpSpPr>
        <p:sp>
          <p:nvSpPr>
            <p:cNvPr id="72" name="Rectangle 72"/>
            <p:cNvSpPr/>
            <p:nvPr/>
          </p:nvSpPr>
          <p:spPr>
            <a:xfrm>
              <a:off x="1276350" y="5162550"/>
              <a:ext cx="9639300" cy="514350"/>
            </a:xfrm>
            <a:prstGeom prst="roundRect">
              <a:avLst>
                <a:gd name="adj" fmla="val 29630"/>
              </a:avLst>
            </a:prstGeom>
            <a:solidFill>
              <a:srgbClr val="F7F6F0"/>
            </a:solidFill>
            <a:ln w="9525">
              <a:solidFill>
                <a:srgbClr val="D8D6CC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584960" y="5347335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结构化日志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033712" y="53554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request_id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518660" y="534733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健康检查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986462" y="5355431"/>
              <a:ext cx="8611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/api/health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700010" y="534733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指标接口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091612" y="53554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/api/metrics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21970" y="6379845"/>
              <a:ext cx="28792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Source: backend and frontend project structure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9110" y="375285"/>
            <a:ext cx="7629525" cy="760571"/>
            <a:chOff x="499110" y="375285"/>
            <a:chExt cx="7629525" cy="760571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375285"/>
              <a:ext cx="762952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生产部署关注模型资源、推理时延和备份恢复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112" y="907256"/>
              <a:ext cx="5969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当前方案能在常规 CPU 服务器上运行，但需要明确模型权重、内存、备份和 HTTPS 配置。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1504950"/>
            <a:ext cx="11125200" cy="1714500"/>
            <a:chOff x="533400" y="1504950"/>
            <a:chExt cx="11125200" cy="1714500"/>
          </a:xfrm>
        </p:grpSpPr>
        <p:sp>
          <p:nvSpPr>
            <p:cNvPr id="6" name="Rectangle 6"/>
            <p:cNvSpPr/>
            <p:nvPr/>
          </p:nvSpPr>
          <p:spPr>
            <a:xfrm>
              <a:off x="533400" y="1504950"/>
              <a:ext cx="257175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42962" y="1814512"/>
              <a:ext cx="257175" cy="257175"/>
              <a:chOff x="842962" y="1814512"/>
              <a:chExt cx="257175" cy="2571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71538" y="18430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185738"/>
                    </a:lnTo>
                    <a:cubicBezTo>
                      <a:pt x="200025" y="193628"/>
                      <a:pt x="193628" y="200025"/>
                      <a:pt x="185738" y="200025"/>
                    </a:cubicBezTo>
                    <a:lnTo>
                      <a:pt x="14288" y="200025"/>
                    </a:lnTo>
                    <a:cubicBezTo>
                      <a:pt x="6397" y="200025"/>
                      <a:pt x="0" y="193628"/>
                      <a:pt x="0" y="185738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28688" y="19002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0"/>
                    </a:lnTo>
                    <a:lnTo>
                      <a:pt x="85725" y="85725"/>
                    </a:lnTo>
                    <a:lnTo>
                      <a:pt x="0" y="857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42962" y="1914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2962" y="19716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42975" y="18145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0125" y="18145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71562" y="1914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2857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1562" y="19716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2857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00125" y="20431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285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42975" y="204311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285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785812" y="2259806"/>
              <a:ext cx="6211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推荐 CPU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0" y="2476500"/>
              <a:ext cx="108432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8 核+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7718" y="29427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最低 4 核可运行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390900" y="1504950"/>
              <a:ext cx="257175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714750" y="1814512"/>
              <a:ext cx="228600" cy="257176"/>
              <a:chOff x="3714750" y="1814512"/>
              <a:chExt cx="228600" cy="25717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714750" y="181451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714750" y="18573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14750" y="19431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43312" y="22598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推荐内存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9500" y="2476500"/>
              <a:ext cx="1126331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16 GB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45218" y="2942749"/>
              <a:ext cx="9673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模型加载约 2 GB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1504950"/>
              <a:ext cx="257175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557962" y="1857375"/>
              <a:ext cx="257175" cy="171450"/>
            </a:xfrm>
            <a:custGeom>
              <a:avLst/>
              <a:gdLst/>
              <a:ahLst/>
              <a:cxnLst/>
              <a:rect l="l" t="t" r="r" b="b"/>
              <a:pathLst>
                <a:path w="257175" h="171450">
                  <a:moveTo>
                    <a:pt x="0" y="85725"/>
                  </a:moveTo>
                  <a:lnTo>
                    <a:pt x="64294" y="85725"/>
                  </a:lnTo>
                  <a:lnTo>
                    <a:pt x="85725" y="0"/>
                  </a:lnTo>
                  <a:lnTo>
                    <a:pt x="142875" y="171450"/>
                  </a:lnTo>
                  <a:lnTo>
                    <a:pt x="171450" y="42862"/>
                  </a:lnTo>
                  <a:lnTo>
                    <a:pt x="192881" y="85725"/>
                  </a:lnTo>
                  <a:lnTo>
                    <a:pt x="257175" y="85725"/>
                  </a:lnTo>
                </a:path>
              </a:pathLst>
            </a:custGeom>
            <a:noFill/>
            <a:ln w="19050">
              <a:solidFill>
                <a:srgbClr val="C15F3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00812" y="2259806"/>
              <a:ext cx="6211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CPU 推理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7000" y="2476500"/>
              <a:ext cx="196643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1.2 秒/图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02718" y="29427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前端按图像数量估时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05900" y="1504950"/>
              <a:ext cx="25527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401175" y="1838658"/>
              <a:ext cx="285750" cy="190224"/>
            </a:xfrm>
            <a:custGeom>
              <a:avLst/>
              <a:gdLst/>
              <a:ahLst/>
              <a:cxnLst/>
              <a:rect l="l" t="t" r="r" b="b"/>
              <a:pathLst>
                <a:path w="285750" h="190224">
                  <a:moveTo>
                    <a:pt x="66537" y="190167"/>
                  </a:moveTo>
                  <a:cubicBezTo>
                    <a:pt x="29789" y="190167"/>
                    <a:pt x="0" y="161492"/>
                    <a:pt x="0" y="126116"/>
                  </a:cubicBezTo>
                  <a:cubicBezTo>
                    <a:pt x="0" y="90754"/>
                    <a:pt x="29789" y="62079"/>
                    <a:pt x="66537" y="62079"/>
                  </a:cubicBezTo>
                  <a:cubicBezTo>
                    <a:pt x="72152" y="36905"/>
                    <a:pt x="92169" y="16359"/>
                    <a:pt x="119043" y="8172"/>
                  </a:cubicBezTo>
                  <a:cubicBezTo>
                    <a:pt x="145904" y="0"/>
                    <a:pt x="175565" y="5415"/>
                    <a:pt x="196825" y="22460"/>
                  </a:cubicBezTo>
                  <a:cubicBezTo>
                    <a:pt x="218084" y="39462"/>
                    <a:pt x="227714" y="65422"/>
                    <a:pt x="222113" y="90597"/>
                  </a:cubicBezTo>
                  <a:lnTo>
                    <a:pt x="236258" y="90597"/>
                  </a:lnTo>
                  <a:cubicBezTo>
                    <a:pt x="263590" y="90597"/>
                    <a:pt x="285750" y="112886"/>
                    <a:pt x="285750" y="140403"/>
                  </a:cubicBezTo>
                  <a:cubicBezTo>
                    <a:pt x="285750" y="167935"/>
                    <a:pt x="263590" y="190224"/>
                    <a:pt x="236244" y="190224"/>
                  </a:cubicBezTo>
                  <a:lnTo>
                    <a:pt x="66537" y="190224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58312" y="22598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推荐磁盘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34500" y="2476500"/>
              <a:ext cx="135736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200 GB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60218" y="29427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影像与报告长期增长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33400" y="3733800"/>
            <a:ext cx="7114936" cy="1943100"/>
            <a:chOff x="533400" y="3733800"/>
            <a:chExt cx="7114936" cy="1943100"/>
          </a:xfrm>
        </p:grpSpPr>
        <p:sp>
          <p:nvSpPr>
            <p:cNvPr id="40" name="Rectangle 40"/>
            <p:cNvSpPr/>
            <p:nvPr/>
          </p:nvSpPr>
          <p:spPr>
            <a:xfrm>
              <a:off x="533400" y="3733800"/>
              <a:ext cx="6896100" cy="194310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1530" y="39452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部署路径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6300" y="4552950"/>
              <a:ext cx="1257300" cy="514350"/>
            </a:xfrm>
            <a:prstGeom prst="roundRect">
              <a:avLst>
                <a:gd name="adj" fmla="val 25926"/>
              </a:avLst>
            </a:prstGeom>
            <a:solidFill>
              <a:srgbClr val="E6F3F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25642" y="4755356"/>
              <a:ext cx="3586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0796B"/>
                  </a:solidFill>
                  <a:latin typeface="Consolas"/>
                  <a:ea typeface="Microsoft YaHei"/>
                  <a:cs typeface="Consolas"/>
                </a:rPr>
                <a:t>venv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133600" y="4810125"/>
              <a:ext cx="4762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sp>
          <p:nvSpPr>
            <p:cNvPr id="45" name="Rectangle 45"/>
            <p:cNvSpPr/>
            <p:nvPr/>
          </p:nvSpPr>
          <p:spPr>
            <a:xfrm>
              <a:off x="2705100" y="4552950"/>
              <a:ext cx="1257300" cy="514350"/>
            </a:xfrm>
            <a:prstGeom prst="roundRect">
              <a:avLst>
                <a:gd name="adj" fmla="val 25926"/>
              </a:avLst>
            </a:prstGeom>
            <a:solidFill>
              <a:srgbClr val="E6F1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034427" y="4755356"/>
              <a:ext cx="5986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F7C95"/>
                  </a:solidFill>
                  <a:latin typeface="Consolas"/>
                  <a:ea typeface="Microsoft YaHei"/>
                  <a:cs typeface="Consolas"/>
                </a:rPr>
                <a:t>weights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3962400" y="4810125"/>
              <a:ext cx="4762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533900" y="4552950"/>
              <a:ext cx="1257300" cy="514350"/>
            </a:xfrm>
            <a:prstGeom prst="roundRect">
              <a:avLst>
                <a:gd name="adj" fmla="val 25926"/>
              </a:avLst>
            </a:prstGeom>
            <a:solidFill>
              <a:srgbClr val="FCEDE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844475" y="4755356"/>
              <a:ext cx="6361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15F3C"/>
                  </a:solidFill>
                  <a:latin typeface="Consolas"/>
                  <a:ea typeface="Microsoft YaHei"/>
                  <a:cs typeface="Consolas"/>
                </a:rPr>
                <a:t>systemd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791200" y="4810125"/>
              <a:ext cx="476250" cy="1"/>
            </a:xfrm>
            <a:prstGeom prst="line">
              <a:avLst/>
            </a:prstGeom>
            <a:noFill/>
            <a:ln w="23812">
              <a:solidFill>
                <a:srgbClr val="00796B"/>
              </a:solidFill>
              <a:tailEnd type="triangle" w="lg" len="lg"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362700" y="4552950"/>
              <a:ext cx="723900" cy="514350"/>
            </a:xfrm>
            <a:prstGeom prst="roundRect">
              <a:avLst>
                <a:gd name="adj" fmla="val 25926"/>
              </a:avLst>
            </a:prstGeom>
            <a:solidFill>
              <a:srgbClr val="EFEDE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22839" y="4755356"/>
              <a:ext cx="4036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Nginx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3912" y="5269706"/>
              <a:ext cx="68244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Linux 推荐 systemd；Windows 可使用 NSSM。生产环境建议启用 HTTPS、COOKIE_SECURE 和 HSTS。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810500" y="3733800"/>
            <a:ext cx="3848100" cy="1943100"/>
            <a:chOff x="7810500" y="3733800"/>
            <a:chExt cx="3848100" cy="1943100"/>
          </a:xfrm>
        </p:grpSpPr>
        <p:sp>
          <p:nvSpPr>
            <p:cNvPr id="55" name="Rectangle 55"/>
            <p:cNvSpPr/>
            <p:nvPr/>
          </p:nvSpPr>
          <p:spPr>
            <a:xfrm>
              <a:off x="7810500" y="3733800"/>
              <a:ext cx="3848100" cy="194310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182769" y="4092575"/>
              <a:ext cx="202405" cy="229394"/>
              <a:chOff x="8182769" y="4092575"/>
              <a:chExt cx="202405" cy="229394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182769" y="4092575"/>
                <a:ext cx="16192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0">
                    <a:moveTo>
                      <a:pt x="62274" y="215900"/>
                    </a:moveTo>
                    <a:lnTo>
                      <a:pt x="26987" y="215900"/>
                    </a:lnTo>
                    <a:cubicBezTo>
                      <a:pt x="12083" y="215900"/>
                      <a:pt x="0" y="203817"/>
                      <a:pt x="0" y="188912"/>
                    </a:cubicBezTo>
                    <a:lnTo>
                      <a:pt x="0" y="26987"/>
                    </a:lnTo>
                    <a:cubicBezTo>
                      <a:pt x="0" y="12083"/>
                      <a:pt x="12083" y="0"/>
                      <a:pt x="26987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7"/>
                    </a:cubicBezTo>
                    <a:lnTo>
                      <a:pt x="161925" y="134937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04212" y="42679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8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36744" y="414655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36744" y="420052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545830" y="40405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备份与恢复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99108" y="4586764"/>
              <a:ext cx="26932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SQLite 热备 + uploads 增量 rsync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01012" y="492680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每天凌晨 3 点，保留 30 天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01012" y="52316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建议每月做一次恢复演练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66" name="TextBox 66"/>
            <p:cNvSpPr txBox="1"/>
            <p:nvPr/>
          </p:nvSpPr>
          <p:spPr>
            <a:xfrm>
              <a:off x="521970" y="6379845"/>
              <a:ext cx="24171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Source: README and docs/deployment.md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4" grpId="0"/>
      <p:bldP spid="6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9110" y="375285"/>
            <a:ext cx="7629525" cy="760571"/>
            <a:chOff x="499110" y="375285"/>
            <a:chExt cx="7629525" cy="760571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375285"/>
              <a:ext cx="762952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权限、审计、日志和恢复构成上线后的安全网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112" y="907256"/>
              <a:ext cx="5309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临床系统不仅要能推理，还要能解释“谁在何时做了什么”和“故障时如何恢复”。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33400" y="1466850"/>
            <a:ext cx="11125200" cy="4229100"/>
            <a:chOff x="533400" y="1466850"/>
            <a:chExt cx="11125200" cy="4229100"/>
          </a:xfrm>
        </p:grpSpPr>
        <p:sp>
          <p:nvSpPr>
            <p:cNvPr id="6" name="Rectangle 6"/>
            <p:cNvSpPr/>
            <p:nvPr/>
          </p:nvSpPr>
          <p:spPr>
            <a:xfrm>
              <a:off x="533400" y="1466850"/>
              <a:ext cx="5295900" cy="194310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466850"/>
              <a:ext cx="95250" cy="19431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1551" y="1857375"/>
              <a:ext cx="310011" cy="285750"/>
              <a:chOff x="921551" y="1857375"/>
              <a:chExt cx="310011" cy="2857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21551" y="1857375"/>
                <a:ext cx="310011" cy="283305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5">
                    <a:moveTo>
                      <a:pt x="155727" y="283305"/>
                    </a:moveTo>
                    <a:cubicBezTo>
                      <a:pt x="56277" y="252478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0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2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33475" y="207962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40180" y="18307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认证控制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9158" y="2434114"/>
              <a:ext cx="42999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bcrypt 密码哈希，HttpOnly + SameSite 会话 cookie。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1062" y="277415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连续失败锁定，支持强制改密和管理员重置。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362700" y="1466850"/>
              <a:ext cx="5295900" cy="194310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62700" y="1466850"/>
              <a:ext cx="95250" cy="1943100"/>
            </a:xfrm>
            <a:prstGeom prst="roundRect">
              <a:avLst>
                <a:gd name="adj" fmla="val 50000"/>
              </a:avLst>
            </a:prstGeom>
            <a:solidFill>
              <a:srgbClr val="2F7C95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804025" y="1873250"/>
              <a:ext cx="238125" cy="269875"/>
              <a:chOff x="6804025" y="1873250"/>
              <a:chExt cx="238125" cy="2698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804025" y="1873250"/>
                <a:ext cx="190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54000">
                    <a:moveTo>
                      <a:pt x="73263" y="254000"/>
                    </a:moveTo>
                    <a:lnTo>
                      <a:pt x="31750" y="254000"/>
                    </a:lnTo>
                    <a:cubicBezTo>
                      <a:pt x="14215" y="254000"/>
                      <a:pt x="0" y="239785"/>
                      <a:pt x="0" y="2222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15875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946900" y="207962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867525" y="1936750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867525" y="20002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2F7C95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269480" y="18307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审计留痕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08458" y="2434114"/>
              <a:ext cx="34328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登录、登出、创建病例、用户管理全量记录。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10362" y="2774156"/>
              <a:ext cx="24663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审计日志可检索，并支持 CSV 导出。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752850"/>
              <a:ext cx="5295900" cy="194310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752850"/>
              <a:ext cx="95250" cy="1943100"/>
            </a:xfrm>
            <a:prstGeom prst="roundRect">
              <a:avLst>
                <a:gd name="adj" fmla="val 50000"/>
              </a:avLst>
            </a:prstGeom>
            <a:solidFill>
              <a:srgbClr val="C15F3C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42975" y="4143375"/>
              <a:ext cx="295275" cy="285750"/>
              <a:chOff x="942975" y="4143375"/>
              <a:chExt cx="295275" cy="285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942975" y="41433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06475" y="4143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63500"/>
                    </a:ln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38225" y="43656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65225" y="431800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01725" y="430212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228725" y="42862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440180" y="41167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可观测性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9158" y="4720114"/>
              <a:ext cx="43254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structlog JSON 输出，request_id 贯穿一次请求链路。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1062" y="5060156"/>
              <a:ext cx="28639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Consolas"/>
                  <a:ea typeface="Microsoft YaHei"/>
                  <a:cs typeface="Consolas"/>
                </a:rPr>
                <a:t>/api/health · /api/metrics · journalctl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62700" y="3752850"/>
              <a:ext cx="5295900" cy="194310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362700" y="3752850"/>
              <a:ext cx="95250" cy="19431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788150" y="4143375"/>
              <a:ext cx="254000" cy="285750"/>
              <a:chOff x="6788150" y="4143375"/>
              <a:chExt cx="254000" cy="2857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788150" y="4143375"/>
                <a:ext cx="254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0" y="95250"/>
                      <a:pt x="254000" y="73928"/>
                      <a:pt x="254000" y="47625"/>
                    </a:cubicBezTo>
                    <a:cubicBezTo>
                      <a:pt x="254000" y="21322"/>
                      <a:pt x="197140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88150" y="419100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88150" y="428625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269480" y="41167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备份恢复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08458" y="4720114"/>
              <a:ext cx="41043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SQLite .backup 与 uploads 增量 rsync 保留 30 天。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10362" y="5060156"/>
              <a:ext cx="39515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Runbook 明确服务挂掉、锁表、磁盘满、密码丢失的预案。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46" name="TextBox 46"/>
            <p:cNvSpPr txBox="1"/>
            <p:nvPr/>
          </p:nvSpPr>
          <p:spPr>
            <a:xfrm>
              <a:off x="521970" y="6379845"/>
              <a:ext cx="30052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Source: docs/runbook.md, auth and audit services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81050" y="495300"/>
            <a:ext cx="10629900" cy="5267325"/>
            <a:chOff x="781050" y="495300"/>
            <a:chExt cx="10629900" cy="5267325"/>
          </a:xfrm>
        </p:grpSpPr>
        <p:sp>
          <p:nvSpPr>
            <p:cNvPr id="3" name="Ellipse 3"/>
            <p:cNvSpPr/>
            <p:nvPr/>
          </p:nvSpPr>
          <p:spPr>
            <a:xfrm>
              <a:off x="8991600" y="495300"/>
              <a:ext cx="2133600" cy="2133600"/>
            </a:xfrm>
            <a:prstGeom prst="ellipse">
              <a:avLst/>
            </a:prstGeom>
            <a:solidFill>
              <a:srgbClr val="FCEDE8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372600" y="876300"/>
              <a:ext cx="1371600" cy="1371600"/>
            </a:xfrm>
            <a:prstGeom prst="ellipse">
              <a:avLst/>
            </a:prstGeom>
            <a:solidFill>
              <a:srgbClr val="F7F6F0"/>
            </a:solidFill>
            <a:ln w="19050">
              <a:solidFill>
                <a:srgbClr val="C15F3C"/>
              </a:solidFill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9844088" y="1347788"/>
              <a:ext cx="428625" cy="428625"/>
              <a:chOff x="9844088" y="1347788"/>
              <a:chExt cx="428625" cy="42862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844088" y="1347788"/>
                <a:ext cx="428625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428625">
                    <a:moveTo>
                      <a:pt x="0" y="214312"/>
                    </a:moveTo>
                    <a:cubicBezTo>
                      <a:pt x="0" y="332674"/>
                      <a:pt x="95951" y="428625"/>
                      <a:pt x="214312" y="428625"/>
                    </a:cubicBezTo>
                    <a:cubicBezTo>
                      <a:pt x="332674" y="428625"/>
                      <a:pt x="428625" y="332674"/>
                      <a:pt x="428625" y="214312"/>
                    </a:cubicBezTo>
                    <a:cubicBezTo>
                      <a:pt x="428625" y="95951"/>
                      <a:pt x="332674" y="0"/>
                      <a:pt x="214312" y="0"/>
                    </a:cubicBezTo>
                    <a:cubicBezTo>
                      <a:pt x="95951" y="0"/>
                      <a:pt x="0" y="95951"/>
                      <a:pt x="0" y="214312"/>
                    </a:cubicBez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058400" y="14668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058400" y="1657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38" y="0"/>
                    </a:lnTo>
                  </a:path>
                </a:pathLst>
              </a:custGeom>
              <a:noFill/>
              <a:ln w="19050">
                <a:solidFill>
                  <a:srgbClr val="C15F3C"/>
                </a:solidFill>
              </a:ln>
            </p:spPr>
          </p:sp>
        </p:grpSp>
        <p:sp>
          <p:nvSpPr>
            <p:cNvPr id="9" name="Freeform 9"/>
            <p:cNvSpPr/>
            <p:nvPr/>
          </p:nvSpPr>
          <p:spPr>
            <a:xfrm>
              <a:off x="781050" y="5753100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8D6C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54380" y="1078230"/>
            <a:ext cx="5547408" cy="1910239"/>
            <a:chOff x="754380" y="1078230"/>
            <a:chExt cx="5547408" cy="1910239"/>
          </a:xfrm>
        </p:grpSpPr>
        <p:sp>
          <p:nvSpPr>
            <p:cNvPr id="11" name="TextBox 11"/>
            <p:cNvSpPr txBox="1"/>
            <p:nvPr/>
          </p:nvSpPr>
          <p:spPr>
            <a:xfrm>
              <a:off x="754380" y="1078230"/>
              <a:ext cx="47036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AI 输出是风险提示，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4380" y="1649730"/>
              <a:ext cx="412394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不是最终诊断结论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0100" y="2324100"/>
              <a:ext cx="4000500" cy="47625"/>
            </a:xfrm>
            <a:prstGeom prst="roundRect">
              <a:avLst>
                <a:gd name="adj" fmla="val 50000"/>
              </a:avLst>
            </a:prstGeom>
            <a:solidFill>
              <a:srgbClr val="C15F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0098" y="2668429"/>
              <a:ext cx="552169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项目必须把“辅助诊断”边界写进产品表达和临床使用流程。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40180" y="3488055"/>
            <a:ext cx="8084820" cy="1912620"/>
            <a:chOff x="1440180" y="3488055"/>
            <a:chExt cx="8084820" cy="1912620"/>
          </a:xfrm>
        </p:grpSpPr>
        <p:sp>
          <p:nvSpPr>
            <p:cNvPr id="16" name="TextBox 16"/>
            <p:cNvSpPr txBox="1"/>
            <p:nvPr/>
          </p:nvSpPr>
          <p:spPr>
            <a:xfrm>
              <a:off x="1440180" y="34880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796B"/>
                  </a:solidFill>
                  <a:latin typeface="Georgia"/>
                  <a:ea typeface="Microsoft YaHei"/>
                  <a:cs typeface="Georgia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55495" y="3517582"/>
              <a:ext cx="49628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使用“预测概率”“风险提示”“复核参考”等表述。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466850" y="3981450"/>
              <a:ext cx="8058150" cy="9525"/>
            </a:xfrm>
            <a:custGeom>
              <a:avLst/>
              <a:gdLst/>
              <a:ahLst/>
              <a:cxnLst/>
              <a:rect l="l" t="t" r="r" b="b"/>
              <a:pathLst>
                <a:path w="8058150" h="9525">
                  <a:moveTo>
                    <a:pt x="0" y="0"/>
                  </a:moveTo>
                  <a:lnTo>
                    <a:pt x="80581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8D6C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40180" y="423100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15F3C"/>
                  </a:solidFill>
                  <a:latin typeface="Georgia"/>
                  <a:ea typeface="Microsoft YaHei"/>
                  <a:cs typeface="Georgia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55495" y="4260532"/>
              <a:ext cx="51938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避免“确诊”“替代医生”“自动诊断”等绝对化措辞。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466850" y="4724400"/>
              <a:ext cx="8058150" cy="9525"/>
            </a:xfrm>
            <a:custGeom>
              <a:avLst/>
              <a:gdLst/>
              <a:ahLst/>
              <a:cxnLst/>
              <a:rect l="l" t="t" r="r" b="b"/>
              <a:pathLst>
                <a:path w="8058150" h="9525">
                  <a:moveTo>
                    <a:pt x="0" y="0"/>
                  </a:moveTo>
                  <a:lnTo>
                    <a:pt x="80581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8D6C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40180" y="49739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F7C95"/>
                  </a:solidFill>
                  <a:latin typeface="Georgia"/>
                  <a:ea typeface="Microsoft YaHei"/>
                  <a:cs typeface="Georgia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55495" y="5003482"/>
              <a:ext cx="48935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医生判断、病理结果和临床流程仍是最终依据。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25" name="TextBox 25"/>
            <p:cNvSpPr txBox="1"/>
            <p:nvPr/>
          </p:nvSpPr>
          <p:spPr>
            <a:xfrm>
              <a:off x="521970" y="6379845"/>
              <a:ext cx="31552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Clinical boundary statement for AI-assisted diagnosis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0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50106" y="716280"/>
            <a:ext cx="12179713" cy="931545"/>
            <a:chOff x="850106" y="716280"/>
            <a:chExt cx="12179713" cy="931545"/>
          </a:xfrm>
        </p:grpSpPr>
        <p:grpSp>
          <p:nvGrpSpPr>
            <p:cNvPr id="8" name="Group 8"/>
            <p:cNvGrpSpPr/>
            <p:nvPr/>
          </p:nvGrpSpPr>
          <p:grpSpPr>
            <a:xfrm>
              <a:off x="850106" y="847725"/>
              <a:ext cx="300038" cy="276225"/>
              <a:chOff x="850106" y="847725"/>
              <a:chExt cx="300038" cy="27622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850106" y="847725"/>
                <a:ext cx="3000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9525">
                    <a:moveTo>
                      <a:pt x="0" y="0"/>
                    </a:moveTo>
                    <a:lnTo>
                      <a:pt x="300038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66775" y="847725"/>
                <a:ext cx="2667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00025">
                    <a:moveTo>
                      <a:pt x="0" y="0"/>
                    </a:moveTo>
                    <a:lnTo>
                      <a:pt x="0" y="166688"/>
                    </a:lnTo>
                    <a:cubicBezTo>
                      <a:pt x="0" y="185099"/>
                      <a:pt x="14926" y="200025"/>
                      <a:pt x="33338" y="200025"/>
                    </a:cubicBezTo>
                    <a:lnTo>
                      <a:pt x="233362" y="200025"/>
                    </a:lnTo>
                    <a:cubicBezTo>
                      <a:pt x="251774" y="200025"/>
                      <a:pt x="266700" y="185099"/>
                      <a:pt x="266700" y="166688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00125" y="104775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50119" y="1114425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33450" y="914400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50006" y="16669"/>
                    </a:lnTo>
                    <a:lnTo>
                      <a:pt x="83344" y="50006"/>
                    </a:ln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344930" y="716280"/>
              <a:ext cx="1168488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E1D"/>
                  </a:solidFill>
                  <a:latin typeface="Georgia"/>
                  <a:ea typeface="Microsoft YaHei"/>
                  <a:cs typeface="Georgia"/>
                </a:rPr>
                <a:t>下一步从可用系统走向可验证、可集成、可持续改进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71600" y="1343025"/>
              <a:ext cx="6638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后续演进应聚焦临床验证、系统集成和模型治理，而不是只增加页面功能。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6850" y="3238500"/>
            <a:ext cx="9258300" cy="381000"/>
            <a:chOff x="1466850" y="3238500"/>
            <a:chExt cx="9258300" cy="381000"/>
          </a:xfrm>
        </p:grpSpPr>
        <p:sp>
          <p:nvSpPr>
            <p:cNvPr id="12" name="Line 12"/>
            <p:cNvSpPr/>
            <p:nvPr/>
          </p:nvSpPr>
          <p:spPr>
            <a:xfrm>
              <a:off x="1466850" y="3429000"/>
              <a:ext cx="9258300" cy="1"/>
            </a:xfrm>
            <a:prstGeom prst="line">
              <a:avLst/>
            </a:prstGeom>
            <a:noFill/>
            <a:ln w="38100">
              <a:solidFill>
                <a:srgbClr val="00796B"/>
              </a:solidFill>
              <a:tailEnd type="triangle" w="lg" len="lg"/>
            </a:ln>
          </p:spPr>
        </p:sp>
        <p:sp>
          <p:nvSpPr>
            <p:cNvPr id="13" name="Ellipse 13"/>
            <p:cNvSpPr/>
            <p:nvPr/>
          </p:nvSpPr>
          <p:spPr>
            <a:xfrm>
              <a:off x="2076450" y="3238500"/>
              <a:ext cx="381000" cy="381000"/>
            </a:xfrm>
            <a:prstGeom prst="ellipse">
              <a:avLst/>
            </a:prstGeom>
            <a:solidFill>
              <a:srgbClr val="F7F6F0"/>
            </a:solidFill>
            <a:ln w="38100">
              <a:solidFill>
                <a:srgbClr val="00796B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905500" y="3238500"/>
              <a:ext cx="381000" cy="381000"/>
            </a:xfrm>
            <a:prstGeom prst="ellipse">
              <a:avLst/>
            </a:prstGeom>
            <a:solidFill>
              <a:srgbClr val="F7F6F0"/>
            </a:solidFill>
            <a:ln w="38100">
              <a:solidFill>
                <a:srgbClr val="C15F3C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429750" y="3238500"/>
              <a:ext cx="381000" cy="381000"/>
            </a:xfrm>
            <a:prstGeom prst="ellipse">
              <a:avLst/>
            </a:prstGeom>
            <a:solidFill>
              <a:srgbClr val="F7F6F0"/>
            </a:solidFill>
            <a:ln w="38100">
              <a:solidFill>
                <a:srgbClr val="2F7C95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485662" y="2617470"/>
            <a:ext cx="1562576" cy="2418874"/>
            <a:chOff x="1485662" y="2617470"/>
            <a:chExt cx="1562576" cy="2418874"/>
          </a:xfrm>
        </p:grpSpPr>
        <p:sp>
          <p:nvSpPr>
            <p:cNvPr id="17" name="TextBox 17"/>
            <p:cNvSpPr txBox="1"/>
            <p:nvPr/>
          </p:nvSpPr>
          <p:spPr>
            <a:xfrm>
              <a:off x="1900428" y="2617470"/>
              <a:ext cx="7330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00796B"/>
                  </a:solidFill>
                  <a:latin typeface="Georgia"/>
                  <a:ea typeface="Microsoft YaHei"/>
                  <a:cs typeface="Georgia"/>
                </a:rPr>
                <a:t>近期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8423" y="38414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验证与打磨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40694" y="42438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真实病例验证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10715" y="451056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界面细节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85662" y="477726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报告模板和部署文档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14712" y="2617470"/>
            <a:ext cx="1562576" cy="2418874"/>
            <a:chOff x="5314712" y="2617470"/>
            <a:chExt cx="1562576" cy="2418874"/>
          </a:xfrm>
        </p:grpSpPr>
        <p:sp>
          <p:nvSpPr>
            <p:cNvPr id="23" name="TextBox 23"/>
            <p:cNvSpPr txBox="1"/>
            <p:nvPr/>
          </p:nvSpPr>
          <p:spPr>
            <a:xfrm>
              <a:off x="5729478" y="2617470"/>
              <a:ext cx="7330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C15F3C"/>
                  </a:solidFill>
                  <a:latin typeface="Georgia"/>
                  <a:ea typeface="Microsoft YaHei"/>
                  <a:cs typeface="Georgia"/>
                </a:rPr>
                <a:t>中期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81958" y="38414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集成与流程化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69744" y="42438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院内账号接入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14712" y="451056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影像系统或归档流程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84733" y="4777264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批量工作流优化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753951" y="2617470"/>
            <a:ext cx="1732598" cy="2418874"/>
            <a:chOff x="8753951" y="2617470"/>
            <a:chExt cx="1732598" cy="2418874"/>
          </a:xfrm>
        </p:grpSpPr>
        <p:sp>
          <p:nvSpPr>
            <p:cNvPr id="29" name="TextBox 29"/>
            <p:cNvSpPr txBox="1"/>
            <p:nvPr/>
          </p:nvSpPr>
          <p:spPr>
            <a:xfrm>
              <a:off x="9253728" y="2617470"/>
              <a:ext cx="7330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F7C95"/>
                  </a:solidFill>
                  <a:latin typeface="Georgia"/>
                  <a:ea typeface="Microsoft YaHei"/>
                  <a:cs typeface="Georgia"/>
                </a:rPr>
                <a:t>长期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21723" y="38414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治理与扩展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93994" y="42438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模型版本治理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64015" y="451056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质控面板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53951" y="477726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B6864"/>
                  </a:solidFill>
                  <a:latin typeface="Arial"/>
                  <a:ea typeface="Microsoft YaHei"/>
                  <a:cs typeface="Arial"/>
                </a:rPr>
                <a:t>更多病种或多中心验证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933700" y="5657850"/>
            <a:ext cx="6324600" cy="457200"/>
            <a:chOff x="2933700" y="5657850"/>
            <a:chExt cx="6324600" cy="457200"/>
          </a:xfrm>
        </p:grpSpPr>
        <p:sp>
          <p:nvSpPr>
            <p:cNvPr id="35" name="Rectangle 35"/>
            <p:cNvSpPr/>
            <p:nvPr/>
          </p:nvSpPr>
          <p:spPr>
            <a:xfrm>
              <a:off x="2933700" y="5657850"/>
              <a:ext cx="6324600" cy="45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D6C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88069" y="5807392"/>
              <a:ext cx="46158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1E1D"/>
                  </a:solidFill>
                  <a:latin typeface="Arial"/>
                  <a:ea typeface="Microsoft YaHei"/>
                  <a:cs typeface="Arial"/>
                </a:rPr>
                <a:t>让 AI 能力稳定进入临床流程，才是项目真正的交付终点。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1970" y="6379845"/>
            <a:ext cx="11148060" cy="182880"/>
            <a:chOff x="521970" y="6379845"/>
            <a:chExt cx="11148060" cy="182880"/>
          </a:xfrm>
        </p:grpSpPr>
        <p:sp>
          <p:nvSpPr>
            <p:cNvPr id="38" name="TextBox 38"/>
            <p:cNvSpPr txBox="1"/>
            <p:nvPr/>
          </p:nvSpPr>
          <p:spPr>
            <a:xfrm>
              <a:off x="521970" y="6379845"/>
              <a:ext cx="39173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8881"/>
                  </a:solidFill>
                  <a:latin typeface="Arial"/>
                  <a:ea typeface="Microsoft YaHei"/>
                  <a:cs typeface="Arial"/>
                </a:rPr>
                <a:t>Roadmap for clinical validation, integration, and model governance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451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8881"/>
                  </a:solidFill>
                  <a:latin typeface="Consolas"/>
                  <a:ea typeface="Microsoft YaHei"/>
                  <a:cs typeface="Consolas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8" grpId="0"/>
      <p:bldP spid="34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2026-06-10T14:07:34Z</dcterms:created>
  <dcterms:modified xsi:type="dcterms:W3CDTF">2026-06-10T14:07:34Z</dcterms:modified>
  <cp:category/>
  <cp:contentStatus/>
</cp:coreProperties>
</file>