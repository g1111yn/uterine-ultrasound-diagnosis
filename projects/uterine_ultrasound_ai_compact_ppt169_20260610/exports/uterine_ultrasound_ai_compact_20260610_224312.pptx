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4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这个项目的核心，不是做一个离线分类模型，而是把妇科超声诊断所需的图像输入、检查文本、患者级聚合和临床工作流整合成一套可部署系统。它支持常见图像格式和 DICOM，输出正常、子宫内膜癌、息肉三类概率。模型训练使用一万多例患者、接近二十万张图像，当前推理权重采用 Fold 3 的 EMA 版本。对医生来说，它既能做单例即时推理，也能处理批量 ZIP，后续还接入 Grad-CAM、报告、历史检索和审计。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V2 模型的关键设计是图像主导的多模态融合。图像侧用 EfficientNet-B3，把统一预处理后的超声图像编码成一千五百三十六维特征；文本侧把检查方式和检查所见按训练一致的规则清洗后输入医学 BERT，取 CLS 向量。融合层不是简单拼接，而是先把图像和文本投影到同一隐空间，再用 gate 决定图像证据和文本上下文的比例。这样在文本缺失时系统可以退化为图像推理，在文本可用时又能补充检查语境。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工程实现上，最重要的是单例体验不被批量任务拖住。后端把模型调用放进一个优先级队列，由单 worker 串行执行，避免模型线程安全问题。单例任务优先级为零，批量任务优先级为五，所以医生临时提交的病例可以在批量处理间隙插队。批量任务本身按患者逐个推进，ZIP 会经过安全解压、manifest 校验、限流和取消控制。每个患者的多张图完成后，再用 mean、max severity 或 majority vote 生成患者级诊断。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最后一页强调系统的临床闭环。模型输出本身只是第一步，真正能进入医院流程，还需要解释、报告、权限、审计和运维指标。病例详情中保留逐图预测和 Grad-CAM，医生可以给出最终判断，系统也能导出中文 PDF 报告。安全上使用 bcrypt、HttpOnly Cookie、失败锁定和强制改密；管理侧记录审计日志并支持 CSV 导出。运维侧通过 health 和 metrics 观察模型加载、队列长度、平均延迟、P95 延迟、数据库规模和错误情况。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97fe1afac41abaad.png"/>
  <Relationship Id="rId3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3d676d7935140773.png"/>
  <Relationship Id="rId3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6099102db1029f0a.png"/>
  <Relationship Id="rId3" Type="http://schemas.openxmlformats.org/officeDocument/2006/relationships/notesSlide" Target="../notesSlides/notesSlide4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-19050" y="0"/>
            <a:ext cx="12211050" cy="6972300"/>
            <a:chOff x="-19050" y="0"/>
            <a:chExt cx="12211050" cy="69723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AF9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DCEDEA">
                    <a:alpha val="78000"/>
                  </a:srgbClr>
                </a:gs>
                <a:gs pos="62000">
                  <a:srgbClr val="F7FAF9"/>
                </a:gs>
                <a:gs pos="100000">
                  <a:srgbClr val="DDE9F5">
                    <a:alpha val="85000"/>
                  </a:srgbClr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9810750" y="266700"/>
              <a:ext cx="1524000" cy="1524000"/>
            </a:xfrm>
            <a:prstGeom prst="ellipse">
              <a:avLst/>
            </a:prstGeom>
            <a:solidFill>
              <a:srgbClr val="DDE9F5">
                <a:alpha val="65000"/>
              </a:srgb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-19050" y="4686300"/>
              <a:ext cx="2286000" cy="2286000"/>
            </a:xfrm>
            <a:prstGeom prst="ellipse">
              <a:avLst/>
            </a:prstGeom>
            <a:solidFill>
              <a:srgbClr val="DCEDEA">
                <a:alpha val="55000"/>
              </a:srgbClr>
            </a:solidFill>
            <a:ln>
              <a:noFill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489585" y="540544"/>
            <a:ext cx="4704397" cy="3119437"/>
            <a:chOff x="489585" y="540544"/>
            <a:chExt cx="4704397" cy="3119437"/>
          </a:xfrm>
        </p:grpSpPr>
        <p:grpSp>
          <p:nvGrpSpPr>
            <p:cNvPr id="12" name="Group 12"/>
            <p:cNvGrpSpPr/>
            <p:nvPr/>
          </p:nvGrpSpPr>
          <p:grpSpPr>
            <a:xfrm>
              <a:off x="616744" y="540544"/>
              <a:ext cx="286543" cy="271462"/>
              <a:chOff x="616744" y="540544"/>
              <a:chExt cx="286543" cy="271462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616744" y="555625"/>
                <a:ext cx="165894" cy="165894"/>
              </a:xfrm>
              <a:custGeom>
                <a:avLst/>
                <a:gdLst/>
                <a:ahLst/>
                <a:cxnLst/>
                <a:rect l="l" t="t" r="r" b="b"/>
                <a:pathLst>
                  <a:path w="165894" h="165894">
                    <a:moveTo>
                      <a:pt x="45244" y="0"/>
                    </a:moveTo>
                    <a:lnTo>
                      <a:pt x="30163" y="0"/>
                    </a:lnTo>
                    <a:cubicBezTo>
                      <a:pt x="13504" y="0"/>
                      <a:pt x="0" y="13504"/>
                      <a:pt x="0" y="30162"/>
                    </a:cubicBezTo>
                    <a:lnTo>
                      <a:pt x="0" y="82947"/>
                    </a:lnTo>
                    <a:cubicBezTo>
                      <a:pt x="0" y="128757"/>
                      <a:pt x="37137" y="165894"/>
                      <a:pt x="82947" y="165894"/>
                    </a:cubicBezTo>
                    <a:cubicBezTo>
                      <a:pt x="128757" y="165894"/>
                      <a:pt x="165894" y="128757"/>
                      <a:pt x="165894" y="82947"/>
                    </a:cubicBezTo>
                    <a:lnTo>
                      <a:pt x="165894" y="30162"/>
                    </a:lnTo>
                    <a:cubicBezTo>
                      <a:pt x="165894" y="13504"/>
                      <a:pt x="152390" y="0"/>
                      <a:pt x="135731" y="0"/>
                    </a:cubicBezTo>
                    <a:lnTo>
                      <a:pt x="120650" y="0"/>
                    </a:lnTo>
                  </a:path>
                </a:pathLst>
              </a:custGeom>
              <a:noFill/>
              <a:ln w="19050">
                <a:solidFill>
                  <a:srgbClr val="00796B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692150" y="676275"/>
                <a:ext cx="180975" cy="135731"/>
              </a:xfrm>
              <a:custGeom>
                <a:avLst/>
                <a:gdLst/>
                <a:ahLst/>
                <a:cxnLst/>
                <a:rect l="l" t="t" r="r" b="b"/>
                <a:pathLst>
                  <a:path w="180975" h="135731">
                    <a:moveTo>
                      <a:pt x="0" y="45244"/>
                    </a:moveTo>
                    <a:cubicBezTo>
                      <a:pt x="0" y="95219"/>
                      <a:pt x="40513" y="135731"/>
                      <a:pt x="90487" y="135731"/>
                    </a:cubicBezTo>
                    <a:cubicBezTo>
                      <a:pt x="140462" y="135731"/>
                      <a:pt x="180975" y="95219"/>
                      <a:pt x="180975" y="45244"/>
                    </a:cubicBezTo>
                    <a:lnTo>
                      <a:pt x="180975" y="0"/>
                    </a:lnTo>
                  </a:path>
                </a:pathLst>
              </a:custGeom>
              <a:noFill/>
              <a:ln w="19050">
                <a:solidFill>
                  <a:srgbClr val="00796B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737394" y="540544"/>
                <a:ext cx="9525" cy="3016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0162">
                    <a:moveTo>
                      <a:pt x="0" y="0"/>
                    </a:moveTo>
                    <a:lnTo>
                      <a:pt x="0" y="30162"/>
                    </a:lnTo>
                  </a:path>
                </a:pathLst>
              </a:custGeom>
              <a:noFill/>
              <a:ln w="19050">
                <a:solidFill>
                  <a:srgbClr val="00796B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661988" y="540544"/>
                <a:ext cx="9525" cy="3016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0162">
                    <a:moveTo>
                      <a:pt x="0" y="0"/>
                    </a:moveTo>
                    <a:lnTo>
                      <a:pt x="0" y="30162"/>
                    </a:lnTo>
                  </a:path>
                </a:pathLst>
              </a:custGeom>
              <a:noFill/>
              <a:ln w="19050">
                <a:solidFill>
                  <a:srgbClr val="00796B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842962" y="615950"/>
                <a:ext cx="603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60325">
                    <a:moveTo>
                      <a:pt x="0" y="30162"/>
                    </a:moveTo>
                    <a:cubicBezTo>
                      <a:pt x="0" y="46821"/>
                      <a:pt x="13504" y="60325"/>
                      <a:pt x="30162" y="60325"/>
                    </a:cubicBezTo>
                    <a:cubicBezTo>
                      <a:pt x="46821" y="60325"/>
                      <a:pt x="60325" y="46821"/>
                      <a:pt x="60325" y="30162"/>
                    </a:cubicBezTo>
                    <a:cubicBezTo>
                      <a:pt x="60325" y="13504"/>
                      <a:pt x="46821" y="0"/>
                      <a:pt x="30162" y="0"/>
                    </a:cubicBezTo>
                    <a:cubicBezTo>
                      <a:pt x="13504" y="0"/>
                      <a:pt x="0" y="13504"/>
                      <a:pt x="0" y="30162"/>
                    </a:cubicBezTo>
                  </a:path>
                </a:pathLst>
              </a:custGeom>
              <a:noFill/>
              <a:ln w="19050">
                <a:solidFill>
                  <a:srgbClr val="00796B"/>
                </a:solidFill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1049655" y="597218"/>
              <a:ext cx="219861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0796B"/>
                  </a:solidFill>
                  <a:latin typeface="Arial"/>
                  <a:ea typeface="Microsoft YaHei"/>
                  <a:cs typeface="Arial"/>
                </a:rPr>
                <a:t>医院妇科超声 AI 辅助诊断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89585" y="1084898"/>
              <a:ext cx="4086225" cy="17297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5700"/>
                </a:lnSpc>
              </a:pPr>
              <a:r>
                <a:rPr lang="zh-CN" sz="4950" b="1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子宫超声</a:t>
              </a:r>
              <a:r>
                <a:rPr lang="zh-CN" sz="4950" b="1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辅助诊断系统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71500" y="2695575"/>
              <a:ext cx="4572000" cy="38100"/>
            </a:xfrm>
            <a:prstGeom prst="roundRect">
              <a:avLst>
                <a:gd name="adj" fmla="val 50000"/>
              </a:avLst>
            </a:prstGeom>
            <a:solidFill>
              <a:srgbClr val="00796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49592" y="2985611"/>
              <a:ext cx="4644390" cy="6743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725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多模态模型把超声图像、检查文本、患者级聚合</a:t>
              </a:r>
              <a:r>
                <a:rPr lang="zh-CN" sz="1725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和临床工作流接入同一套可部署系统。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6096000" y="723900"/>
            <a:ext cx="5448300" cy="2876550"/>
            <a:chOff x="6096000" y="723900"/>
            <a:chExt cx="5448300" cy="2876550"/>
          </a:xfrm>
        </p:grpSpPr>
        <p:sp>
          <p:nvSpPr>
            <p:cNvPr id="18" name="Rectangle 18"/>
            <p:cNvSpPr/>
            <p:nvPr/>
          </p:nvSpPr>
          <p:spPr>
            <a:xfrm>
              <a:off x="6096000" y="723900"/>
              <a:ext cx="2590800" cy="1295400"/>
            </a:xfrm>
            <a:prstGeom prst="roundRect">
              <a:avLst>
                <a:gd name="adj" fmla="val 5882"/>
              </a:avLst>
            </a:prstGeom>
            <a:solidFill>
              <a:srgbClr val="FFFFFF"/>
            </a:solidFill>
            <a:ln w="9525">
              <a:solidFill>
                <a:srgbClr val="A9B7B3"/>
              </a:solidFill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6384131" y="1031081"/>
              <a:ext cx="242888" cy="242888"/>
              <a:chOff x="6384131" y="1031081"/>
              <a:chExt cx="242888" cy="242888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6546056" y="10985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35" y="0"/>
                    </a:lnTo>
                  </a:path>
                </a:pathLst>
              </a:custGeom>
              <a:noFill/>
              <a:ln w="19050">
                <a:solidFill>
                  <a:srgbClr val="0F4D92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6384131" y="1031081"/>
                <a:ext cx="242888" cy="242888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242888">
                    <a:moveTo>
                      <a:pt x="0" y="40481"/>
                    </a:moveTo>
                    <a:cubicBezTo>
                      <a:pt x="0" y="18124"/>
                      <a:pt x="18124" y="0"/>
                      <a:pt x="40481" y="0"/>
                    </a:cubicBezTo>
                    <a:lnTo>
                      <a:pt x="202406" y="0"/>
                    </a:lnTo>
                    <a:cubicBezTo>
                      <a:pt x="224763" y="0"/>
                      <a:pt x="242888" y="18124"/>
                      <a:pt x="242888" y="40481"/>
                    </a:cubicBezTo>
                    <a:lnTo>
                      <a:pt x="242888" y="202406"/>
                    </a:lnTo>
                    <a:cubicBezTo>
                      <a:pt x="242888" y="224763"/>
                      <a:pt x="224763" y="242888"/>
                      <a:pt x="202406" y="242888"/>
                    </a:cubicBezTo>
                    <a:lnTo>
                      <a:pt x="40481" y="242888"/>
                    </a:lnTo>
                    <a:cubicBezTo>
                      <a:pt x="18124" y="242888"/>
                      <a:pt x="0" y="224763"/>
                      <a:pt x="0" y="202406"/>
                    </a:cubicBezTo>
                    <a:lnTo>
                      <a:pt x="0" y="40481"/>
                    </a:lnTo>
                  </a:path>
                </a:pathLst>
              </a:custGeom>
              <a:noFill/>
              <a:ln w="19050">
                <a:solidFill>
                  <a:srgbClr val="0F4D92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6384131" y="1126981"/>
                <a:ext cx="175419" cy="79519"/>
              </a:xfrm>
              <a:custGeom>
                <a:avLst/>
                <a:gdLst/>
                <a:ahLst/>
                <a:cxnLst/>
                <a:rect l="l" t="t" r="r" b="b"/>
                <a:pathLst>
                  <a:path w="175419" h="79519">
                    <a:moveTo>
                      <a:pt x="0" y="79519"/>
                    </a:moveTo>
                    <a:lnTo>
                      <a:pt x="67469" y="12050"/>
                    </a:lnTo>
                    <a:cubicBezTo>
                      <a:pt x="79991" y="0"/>
                      <a:pt x="95428" y="0"/>
                      <a:pt x="107950" y="12050"/>
                    </a:cubicBezTo>
                    <a:lnTo>
                      <a:pt x="175419" y="79519"/>
                    </a:lnTo>
                  </a:path>
                </a:pathLst>
              </a:custGeom>
              <a:noFill/>
              <a:ln w="19050">
                <a:solidFill>
                  <a:srgbClr val="0F4D92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6532562" y="1153969"/>
                <a:ext cx="94456" cy="52531"/>
              </a:xfrm>
              <a:custGeom>
                <a:avLst/>
                <a:gdLst/>
                <a:ahLst/>
                <a:cxnLst/>
                <a:rect l="l" t="t" r="r" b="b"/>
                <a:pathLst>
                  <a:path w="94456" h="52531">
                    <a:moveTo>
                      <a:pt x="0" y="25544"/>
                    </a:moveTo>
                    <a:lnTo>
                      <a:pt x="13494" y="12050"/>
                    </a:lnTo>
                    <a:cubicBezTo>
                      <a:pt x="26016" y="0"/>
                      <a:pt x="41453" y="0"/>
                      <a:pt x="53975" y="12050"/>
                    </a:cubicBezTo>
                    <a:lnTo>
                      <a:pt x="94456" y="52531"/>
                    </a:lnTo>
                  </a:path>
                </a:pathLst>
              </a:custGeom>
              <a:noFill/>
              <a:ln w="19050">
                <a:solidFill>
                  <a:srgbClr val="0F4D92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6819900" y="1038225"/>
              <a:ext cx="150828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多格式图像输入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329362" y="1478756"/>
              <a:ext cx="230135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JPEG / PNG / BMP / TIFF / DICOM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8953500" y="723900"/>
              <a:ext cx="2590800" cy="1295400"/>
            </a:xfrm>
            <a:prstGeom prst="roundRect">
              <a:avLst>
                <a:gd name="adj" fmla="val 5882"/>
              </a:avLst>
            </a:prstGeom>
            <a:solidFill>
              <a:srgbClr val="FFFFFF"/>
            </a:solidFill>
            <a:ln w="9525">
              <a:solidFill>
                <a:srgbClr val="A9B7B3"/>
              </a:solidFill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9241631" y="1031081"/>
              <a:ext cx="242888" cy="242888"/>
              <a:chOff x="9241631" y="1031081"/>
              <a:chExt cx="242888" cy="242888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9363075" y="1166019"/>
                <a:ext cx="94456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94456" h="107950">
                    <a:moveTo>
                      <a:pt x="47228" y="0"/>
                    </a:moveTo>
                    <a:cubicBezTo>
                      <a:pt x="21145" y="0"/>
                      <a:pt x="0" y="21145"/>
                      <a:pt x="0" y="47228"/>
                    </a:cubicBezTo>
                    <a:lnTo>
                      <a:pt x="0" y="60722"/>
                    </a:lnTo>
                    <a:cubicBezTo>
                      <a:pt x="0" y="86805"/>
                      <a:pt x="21145" y="107950"/>
                      <a:pt x="47228" y="107950"/>
                    </a:cubicBezTo>
                    <a:cubicBezTo>
                      <a:pt x="73311" y="107950"/>
                      <a:pt x="94456" y="86805"/>
                      <a:pt x="94456" y="60722"/>
                    </a:cubicBezTo>
                    <a:lnTo>
                      <a:pt x="94456" y="36433"/>
                    </a:lnTo>
                  </a:path>
                </a:pathLst>
              </a:custGeom>
              <a:noFill/>
              <a:ln w="19050">
                <a:solidFill>
                  <a:srgbClr val="00796B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9268619" y="1166019"/>
                <a:ext cx="94456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94456" h="107950">
                    <a:moveTo>
                      <a:pt x="47228" y="0"/>
                    </a:moveTo>
                    <a:cubicBezTo>
                      <a:pt x="73311" y="0"/>
                      <a:pt x="94456" y="21145"/>
                      <a:pt x="94456" y="47228"/>
                    </a:cubicBezTo>
                    <a:lnTo>
                      <a:pt x="94456" y="60722"/>
                    </a:lnTo>
                    <a:cubicBezTo>
                      <a:pt x="94456" y="86805"/>
                      <a:pt x="73311" y="107950"/>
                      <a:pt x="47228" y="107950"/>
                    </a:cubicBezTo>
                    <a:cubicBezTo>
                      <a:pt x="21145" y="107950"/>
                      <a:pt x="0" y="86805"/>
                      <a:pt x="0" y="60722"/>
                    </a:cubicBezTo>
                    <a:lnTo>
                      <a:pt x="0" y="36433"/>
                    </a:lnTo>
                  </a:path>
                </a:pathLst>
              </a:custGeom>
              <a:noFill/>
              <a:ln w="19050">
                <a:solidFill>
                  <a:srgbClr val="00796B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9430544" y="1112044"/>
                <a:ext cx="53975" cy="94456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94456">
                    <a:moveTo>
                      <a:pt x="6747" y="94456"/>
                    </a:moveTo>
                    <a:cubicBezTo>
                      <a:pt x="32830" y="94456"/>
                      <a:pt x="53975" y="73311"/>
                      <a:pt x="53975" y="47228"/>
                    </a:cubicBezTo>
                    <a:cubicBezTo>
                      <a:pt x="53975" y="21145"/>
                      <a:pt x="32830" y="0"/>
                      <a:pt x="6747" y="0"/>
                    </a:cubicBez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0796B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9363075" y="1031081"/>
                <a:ext cx="94456" cy="85011"/>
              </a:xfrm>
              <a:custGeom>
                <a:avLst/>
                <a:gdLst/>
                <a:ahLst/>
                <a:cxnLst/>
                <a:rect l="l" t="t" r="r" b="b"/>
                <a:pathLst>
                  <a:path w="94456" h="85011">
                    <a:moveTo>
                      <a:pt x="94456" y="85011"/>
                    </a:moveTo>
                    <a:lnTo>
                      <a:pt x="94456" y="47228"/>
                    </a:lnTo>
                    <a:cubicBezTo>
                      <a:pt x="94456" y="21145"/>
                      <a:pt x="73311" y="0"/>
                      <a:pt x="47228" y="0"/>
                    </a:cubicBezTo>
                    <a:cubicBezTo>
                      <a:pt x="21145" y="0"/>
                      <a:pt x="0" y="21145"/>
                      <a:pt x="0" y="47228"/>
                    </a:cubicBezTo>
                  </a:path>
                </a:pathLst>
              </a:custGeom>
              <a:noFill/>
              <a:ln w="19050">
                <a:solidFill>
                  <a:srgbClr val="00796B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9241631" y="1112044"/>
                <a:ext cx="53975" cy="94456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94456">
                    <a:moveTo>
                      <a:pt x="47228" y="94456"/>
                    </a:moveTo>
                    <a:cubicBezTo>
                      <a:pt x="21145" y="94456"/>
                      <a:pt x="0" y="73311"/>
                      <a:pt x="0" y="47228"/>
                    </a:cubicBezTo>
                    <a:cubicBezTo>
                      <a:pt x="0" y="21145"/>
                      <a:pt x="21145" y="0"/>
                      <a:pt x="47228" y="0"/>
                    </a:cubicBezTo>
                    <a:lnTo>
                      <a:pt x="53975" y="0"/>
                    </a:lnTo>
                  </a:path>
                </a:pathLst>
              </a:custGeom>
              <a:noFill/>
              <a:ln w="19050">
                <a:solidFill>
                  <a:srgbClr val="00796B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9268619" y="1031081"/>
                <a:ext cx="94456" cy="182166"/>
              </a:xfrm>
              <a:custGeom>
                <a:avLst/>
                <a:gdLst/>
                <a:ahLst/>
                <a:cxnLst/>
                <a:rect l="l" t="t" r="r" b="b"/>
                <a:pathLst>
                  <a:path w="94456" h="182166">
                    <a:moveTo>
                      <a:pt x="0" y="85011"/>
                    </a:moveTo>
                    <a:lnTo>
                      <a:pt x="0" y="47228"/>
                    </a:lnTo>
                    <a:cubicBezTo>
                      <a:pt x="0" y="21145"/>
                      <a:pt x="21145" y="0"/>
                      <a:pt x="47228" y="0"/>
                    </a:cubicBezTo>
                    <a:cubicBezTo>
                      <a:pt x="73311" y="0"/>
                      <a:pt x="94456" y="21145"/>
                      <a:pt x="94456" y="47228"/>
                    </a:cubicBezTo>
                    <a:lnTo>
                      <a:pt x="94456" y="182166"/>
                    </a:lnTo>
                  </a:path>
                </a:pathLst>
              </a:custGeom>
              <a:noFill/>
              <a:ln w="19050">
                <a:solidFill>
                  <a:srgbClr val="00796B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9677400" y="1038225"/>
              <a:ext cx="138226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V2 多模态模型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186862" y="1478756"/>
              <a:ext cx="203882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EfficientNet-B3 + 医学 BERT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096000" y="2305050"/>
              <a:ext cx="2590800" cy="1295400"/>
            </a:xfrm>
            <a:prstGeom prst="roundRect">
              <a:avLst>
                <a:gd name="adj" fmla="val 5882"/>
              </a:avLst>
            </a:prstGeom>
            <a:solidFill>
              <a:srgbClr val="FFFFFF"/>
            </a:solidFill>
            <a:ln w="9525">
              <a:solidFill>
                <a:srgbClr val="A9B7B3"/>
              </a:solidFill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6384131" y="2612231"/>
              <a:ext cx="242888" cy="242888"/>
              <a:chOff x="6384131" y="2612231"/>
              <a:chExt cx="242888" cy="242888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6384131" y="2801144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19050">
                <a:solidFill>
                  <a:srgbClr val="D08A24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6573044" y="2612231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26987" y="53975"/>
                    </a:moveTo>
                    <a:cubicBezTo>
                      <a:pt x="41892" y="53975"/>
                      <a:pt x="53975" y="41892"/>
                      <a:pt x="53975" y="26987"/>
                    </a:cubicBezTo>
                    <a:cubicBezTo>
                      <a:pt x="53975" y="12083"/>
                      <a:pt x="41892" y="0"/>
                      <a:pt x="26987" y="0"/>
                    </a:cubicBezTo>
                    <a:cubicBezTo>
                      <a:pt x="12083" y="0"/>
                      <a:pt x="0" y="12083"/>
                      <a:pt x="0" y="26987"/>
                    </a:cubicBezTo>
                    <a:cubicBezTo>
                      <a:pt x="0" y="41892"/>
                      <a:pt x="12083" y="53975"/>
                      <a:pt x="26987" y="53975"/>
                    </a:cubicBezTo>
                  </a:path>
                </a:pathLst>
              </a:custGeom>
              <a:noFill/>
              <a:ln w="19050">
                <a:solidFill>
                  <a:srgbClr val="D08A24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6411119" y="2639219"/>
                <a:ext cx="202406" cy="188913"/>
              </a:xfrm>
              <a:custGeom>
                <a:avLst/>
                <a:gdLst/>
                <a:ahLst/>
                <a:cxnLst/>
                <a:rect l="l" t="t" r="r" b="b"/>
                <a:pathLst>
                  <a:path w="202406" h="188913">
                    <a:moveTo>
                      <a:pt x="80962" y="188913"/>
                    </a:moveTo>
                    <a:lnTo>
                      <a:pt x="155178" y="188913"/>
                    </a:lnTo>
                    <a:cubicBezTo>
                      <a:pt x="181261" y="188913"/>
                      <a:pt x="202406" y="167768"/>
                      <a:pt x="202406" y="141684"/>
                    </a:cubicBezTo>
                    <a:cubicBezTo>
                      <a:pt x="202406" y="115601"/>
                      <a:pt x="181261" y="94456"/>
                      <a:pt x="155178" y="94456"/>
                    </a:cubicBezTo>
                    <a:lnTo>
                      <a:pt x="47228" y="94456"/>
                    </a:lnTo>
                    <a:cubicBezTo>
                      <a:pt x="21145" y="94456"/>
                      <a:pt x="0" y="73311"/>
                      <a:pt x="0" y="47228"/>
                    </a:cubicBezTo>
                    <a:cubicBezTo>
                      <a:pt x="0" y="21145"/>
                      <a:pt x="21145" y="0"/>
                      <a:pt x="47228" y="0"/>
                    </a:cubicBezTo>
                    <a:lnTo>
                      <a:pt x="107950" y="0"/>
                    </a:lnTo>
                  </a:path>
                </a:pathLst>
              </a:custGeom>
              <a:noFill/>
              <a:ln w="19050">
                <a:solidFill>
                  <a:srgbClr val="D08A24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6819900" y="2619375"/>
              <a:ext cx="153978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单例 + 批量推理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329362" y="3059906"/>
              <a:ext cx="1828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优先级队列，异步状态轮询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8953500" y="2305050"/>
              <a:ext cx="2590800" cy="1295400"/>
            </a:xfrm>
            <a:prstGeom prst="roundRect">
              <a:avLst>
                <a:gd name="adj" fmla="val 5882"/>
              </a:avLst>
            </a:prstGeom>
            <a:solidFill>
              <a:srgbClr val="FFFFFF"/>
            </a:solidFill>
            <a:ln w="9525">
              <a:solidFill>
                <a:srgbClr val="A9B7B3"/>
              </a:solidFill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9241631" y="2612231"/>
              <a:ext cx="242888" cy="242888"/>
              <a:chOff x="9241631" y="2612231"/>
              <a:chExt cx="242888" cy="242888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9376569" y="2747169"/>
                <a:ext cx="107950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107950">
                    <a:moveTo>
                      <a:pt x="0" y="53975"/>
                    </a:moveTo>
                    <a:cubicBezTo>
                      <a:pt x="0" y="83785"/>
                      <a:pt x="24165" y="107950"/>
                      <a:pt x="53975" y="107950"/>
                    </a:cubicBezTo>
                    <a:cubicBezTo>
                      <a:pt x="83785" y="107950"/>
                      <a:pt x="107950" y="83785"/>
                      <a:pt x="107950" y="53975"/>
                    </a:cubicBezTo>
                    <a:cubicBezTo>
                      <a:pt x="107950" y="24165"/>
                      <a:pt x="83785" y="0"/>
                      <a:pt x="53975" y="0"/>
                    </a:cubicBezTo>
                    <a:cubicBezTo>
                      <a:pt x="24165" y="0"/>
                      <a:pt x="0" y="24165"/>
                      <a:pt x="0" y="53975"/>
                    </a:cubicBezTo>
                  </a:path>
                </a:pathLst>
              </a:custGeom>
              <a:noFill/>
              <a:ln w="19050">
                <a:solidFill>
                  <a:srgbClr val="B64342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9430544" y="2747169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0"/>
                    </a:moveTo>
                    <a:lnTo>
                      <a:pt x="0" y="53975"/>
                    </a:lnTo>
                    <a:lnTo>
                      <a:pt x="53975" y="53975"/>
                    </a:lnTo>
                  </a:path>
                </a:pathLst>
              </a:custGeom>
              <a:noFill/>
              <a:ln w="19050">
                <a:solidFill>
                  <a:srgbClr val="B64342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9363075" y="2612231"/>
                <a:ext cx="67469" cy="67469"/>
              </a:xfrm>
              <a:custGeom>
                <a:avLst/>
                <a:gdLst/>
                <a:ahLst/>
                <a:cxnLst/>
                <a:rect l="l" t="t" r="r" b="b"/>
                <a:pathLst>
                  <a:path w="67469" h="67469">
                    <a:moveTo>
                      <a:pt x="0" y="0"/>
                    </a:moveTo>
                    <a:lnTo>
                      <a:pt x="0" y="53975"/>
                    </a:lnTo>
                    <a:cubicBezTo>
                      <a:pt x="0" y="61427"/>
                      <a:pt x="6041" y="67469"/>
                      <a:pt x="13494" y="67469"/>
                    </a:cubicBezTo>
                    <a:lnTo>
                      <a:pt x="67469" y="67469"/>
                    </a:lnTo>
                  </a:path>
                </a:pathLst>
              </a:custGeom>
              <a:noFill/>
              <a:ln w="19050">
                <a:solidFill>
                  <a:srgbClr val="B64342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9241631" y="2612231"/>
                <a:ext cx="188913" cy="242888"/>
              </a:xfrm>
              <a:custGeom>
                <a:avLst/>
                <a:gdLst/>
                <a:ahLst/>
                <a:cxnLst/>
                <a:rect l="l" t="t" r="r" b="b"/>
                <a:pathLst>
                  <a:path w="188913" h="242888">
                    <a:moveTo>
                      <a:pt x="114697" y="242888"/>
                    </a:moveTo>
                    <a:lnTo>
                      <a:pt x="26988" y="242888"/>
                    </a:lnTo>
                    <a:cubicBezTo>
                      <a:pt x="12083" y="242888"/>
                      <a:pt x="0" y="230805"/>
                      <a:pt x="0" y="215900"/>
                    </a:cubicBezTo>
                    <a:lnTo>
                      <a:pt x="0" y="26987"/>
                    </a:lnTo>
                    <a:cubicBezTo>
                      <a:pt x="0" y="12083"/>
                      <a:pt x="12083" y="0"/>
                      <a:pt x="26988" y="0"/>
                    </a:cubicBezTo>
                    <a:lnTo>
                      <a:pt x="121444" y="0"/>
                    </a:lnTo>
                    <a:lnTo>
                      <a:pt x="188913" y="67469"/>
                    </a:lnTo>
                    <a:lnTo>
                      <a:pt x="188913" y="94456"/>
                    </a:lnTo>
                    <a:moveTo>
                      <a:pt x="188913" y="134938"/>
                    </a:moveTo>
                    <a:lnTo>
                      <a:pt x="188913" y="188912"/>
                    </a:lnTo>
                  </a:path>
                </a:pathLst>
              </a:custGeom>
              <a:noFill/>
              <a:ln w="19050">
                <a:solidFill>
                  <a:srgbClr val="B64342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9677400" y="2619375"/>
              <a:ext cx="150828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解释与报告闭环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186862" y="3059906"/>
              <a:ext cx="221134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Grad-CAM、医生判断、PDF 报告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571500" y="4229100"/>
            <a:ext cx="5219700" cy="990600"/>
            <a:chOff x="571500" y="4229100"/>
            <a:chExt cx="5219700" cy="990600"/>
          </a:xfrm>
        </p:grpSpPr>
        <p:sp>
          <p:nvSpPr>
            <p:cNvPr id="52" name="Rectangle 52"/>
            <p:cNvSpPr/>
            <p:nvPr/>
          </p:nvSpPr>
          <p:spPr>
            <a:xfrm>
              <a:off x="571500" y="4229100"/>
              <a:ext cx="5219700" cy="990600"/>
            </a:xfrm>
            <a:prstGeom prst="roundRect">
              <a:avLst>
                <a:gd name="adj" fmla="val 7692"/>
              </a:avLst>
            </a:prstGeom>
            <a:solidFill>
              <a:srgbClr val="FFFFFF"/>
            </a:solidFill>
            <a:ln w="9525">
              <a:solidFill>
                <a:srgbClr val="A9B7B3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59155" y="446436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临床输入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2440305" y="4464368"/>
              <a:ext cx="62971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AI 推理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4002405" y="446436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医生复核</a:t>
              </a:r>
            </a:p>
          </p:txBody>
        </p:sp>
        <p:sp>
          <p:nvSpPr>
            <p:cNvPr id="56" name="Line 56"/>
            <p:cNvSpPr/>
            <p:nvPr/>
          </p:nvSpPr>
          <p:spPr>
            <a:xfrm>
              <a:off x="1752600" y="4552950"/>
              <a:ext cx="514350" cy="1"/>
            </a:xfrm>
            <a:prstGeom prst="line">
              <a:avLst/>
            </a:prstGeom>
            <a:noFill/>
            <a:ln w="19050">
              <a:solidFill>
                <a:srgbClr val="00796B"/>
              </a:solidFill>
              <a:tailEnd type="triangle" w="lg" len="lg"/>
            </a:ln>
          </p:spPr>
        </p:sp>
        <p:sp>
          <p:nvSpPr>
            <p:cNvPr id="57" name="Line 57"/>
            <p:cNvSpPr/>
            <p:nvPr/>
          </p:nvSpPr>
          <p:spPr>
            <a:xfrm>
              <a:off x="3276600" y="4552950"/>
              <a:ext cx="552450" cy="1"/>
            </a:xfrm>
            <a:prstGeom prst="line">
              <a:avLst/>
            </a:prstGeom>
            <a:noFill/>
            <a:ln w="19050">
              <a:solidFill>
                <a:srgbClr val="00796B"/>
              </a:solidFill>
              <a:tailEnd type="triangle" w="lg" len="lg"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862965" y="4820602"/>
              <a:ext cx="17488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图像 + 检查方式 + 检查所见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2444115" y="4820602"/>
              <a:ext cx="14478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三分类概率 + 热力解释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4006215" y="4820602"/>
              <a:ext cx="130082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诊断记录 + PDF 报告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6096000" y="4229100"/>
            <a:ext cx="5448300" cy="990600"/>
            <a:chOff x="6096000" y="4229100"/>
            <a:chExt cx="5448300" cy="990600"/>
          </a:xfrm>
        </p:grpSpPr>
        <p:sp>
          <p:nvSpPr>
            <p:cNvPr id="62" name="Rectangle 62"/>
            <p:cNvSpPr/>
            <p:nvPr/>
          </p:nvSpPr>
          <p:spPr>
            <a:xfrm>
              <a:off x="6096000" y="4229100"/>
              <a:ext cx="1676400" cy="990600"/>
            </a:xfrm>
            <a:prstGeom prst="roundRect">
              <a:avLst>
                <a:gd name="adj" fmla="val 7692"/>
              </a:avLst>
            </a:prstGeom>
            <a:solidFill>
              <a:srgbClr val="1F2933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324600" y="4305300"/>
              <a:ext cx="1462373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10,587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349365" y="4839652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DCEDEA"/>
                  </a:solidFill>
                  <a:latin typeface="Arial"/>
                  <a:ea typeface="Microsoft YaHei"/>
                  <a:cs typeface="Arial"/>
                </a:rPr>
                <a:t>训练患者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7943850" y="4229100"/>
              <a:ext cx="1676400" cy="990600"/>
            </a:xfrm>
            <a:prstGeom prst="roundRect">
              <a:avLst>
                <a:gd name="adj" fmla="val 7692"/>
              </a:avLst>
            </a:prstGeom>
            <a:solidFill>
              <a:srgbClr val="00796B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8172450" y="4305300"/>
              <a:ext cx="1000316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196k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197215" y="4839652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DCEDEA"/>
                  </a:solidFill>
                  <a:latin typeface="Arial"/>
                  <a:ea typeface="Microsoft YaHei"/>
                  <a:cs typeface="Arial"/>
                </a:rPr>
                <a:t>训练图像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9791700" y="4229100"/>
              <a:ext cx="1752600" cy="990600"/>
            </a:xfrm>
            <a:prstGeom prst="roundRect">
              <a:avLst>
                <a:gd name="adj" fmla="val 7692"/>
              </a:avLst>
            </a:prstGeom>
            <a:solidFill>
              <a:srgbClr val="B64342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10020300" y="4305300"/>
              <a:ext cx="1462373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0.8600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0045065" y="4839652"/>
              <a:ext cx="130082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4D9D7"/>
                  </a:solidFill>
                  <a:latin typeface="Arial"/>
                  <a:ea typeface="Microsoft YaHei"/>
                  <a:cs typeface="Arial"/>
                </a:rPr>
                <a:t>Fold 3 EMA pat_acc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561022" y="6406991"/>
            <a:ext cx="10879455" cy="167640"/>
            <a:chOff x="561022" y="6406991"/>
            <a:chExt cx="10879455" cy="167640"/>
          </a:xfrm>
        </p:grpSpPr>
        <p:sp>
          <p:nvSpPr>
            <p:cNvPr id="72" name="TextBox 72"/>
            <p:cNvSpPr txBox="1"/>
            <p:nvPr/>
          </p:nvSpPr>
          <p:spPr>
            <a:xfrm>
              <a:off x="561022" y="6406991"/>
              <a:ext cx="332136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Source: project README and implementation scan, 2026-06-10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050976" y="6406991"/>
              <a:ext cx="38950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01 / 04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4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51" grpId="0"/>
      <p:bldP spid="61" grpId="0"/>
      <p:bldP spid="7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AF9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876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866775"/>
              <a:ext cx="12192000" cy="9525"/>
            </a:xfrm>
            <a:prstGeom prst="rect">
              <a:avLst/>
            </a:prstGeom>
            <a:solidFill>
              <a:srgbClr val="A9B7B3">
                <a:alpha val="55000"/>
              </a:srgbClr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464820" y="198120"/>
            <a:ext cx="11245215" cy="644842"/>
            <a:chOff x="464820" y="198120"/>
            <a:chExt cx="11245215" cy="644842"/>
          </a:xfrm>
        </p:grpSpPr>
        <p:sp>
          <p:nvSpPr>
            <p:cNvPr id="6" name="TextBox 6"/>
            <p:cNvSpPr txBox="1"/>
            <p:nvPr/>
          </p:nvSpPr>
          <p:spPr>
            <a:xfrm>
              <a:off x="464820" y="198120"/>
              <a:ext cx="8260385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V2 模型以图像证据为主轴，文本只在门控中补充上下文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81965" y="629602"/>
              <a:ext cx="642547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EfficientNet-B3 + 医学 BERT + ImageDominantGatedFusion，输出正常 / 子宫内膜癌 / 息肉三类概率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139397" y="401002"/>
              <a:ext cx="57063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rgbClr val="00796B"/>
                  </a:solidFill>
                  <a:latin typeface="Arial"/>
                  <a:ea typeface="Microsoft YaHei"/>
                  <a:cs typeface="Arial"/>
                </a:rPr>
                <a:t>METHOD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95300" y="1295400"/>
            <a:ext cx="11201400" cy="4010025"/>
            <a:chOff x="495300" y="1295400"/>
            <a:chExt cx="11201400" cy="4010025"/>
          </a:xfrm>
        </p:grpSpPr>
        <p:sp>
          <p:nvSpPr>
            <p:cNvPr id="10" name="Rectangle 10"/>
            <p:cNvSpPr/>
            <p:nvPr/>
          </p:nvSpPr>
          <p:spPr>
            <a:xfrm>
              <a:off x="495300" y="1295400"/>
              <a:ext cx="11201400" cy="3943350"/>
            </a:xfrm>
            <a:prstGeom prst="roundRect">
              <a:avLst>
                <a:gd name="adj" fmla="val 1932"/>
              </a:avLst>
            </a:prstGeom>
            <a:solidFill>
              <a:srgbClr val="FFFFFF"/>
            </a:solidFill>
            <a:ln w="9525">
              <a:solidFill>
                <a:srgbClr val="A9B7B3"/>
              </a:solidFill>
            </a:ln>
          </p:spPr>
        </p:sp>
        <p:pic>
          <p:nvPicPr>
            <p:cNvPr id="11" name="Image 1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71500" y="1438275"/>
              <a:ext cx="11049000" cy="3867150"/>
            </a:xfrm>
            <a:prstGeom prst="roundRect">
              <a:avLst>
                <a:gd name="adj" fmla="val 1970"/>
              </a:avLst>
            </a:prstGeom>
          </p:spPr>
        </p:pic>
      </p:grpSp>
      <p:grpSp>
        <p:nvGrpSpPr>
          <p:cNvPr id="21" name="Group 21"/>
          <p:cNvGrpSpPr/>
          <p:nvPr/>
        </p:nvGrpSpPr>
        <p:grpSpPr>
          <a:xfrm>
            <a:off x="495300" y="5514975"/>
            <a:ext cx="3919537" cy="838200"/>
            <a:chOff x="495300" y="5514975"/>
            <a:chExt cx="3919537" cy="838200"/>
          </a:xfrm>
        </p:grpSpPr>
        <p:sp>
          <p:nvSpPr>
            <p:cNvPr id="13" name="Rectangle 13"/>
            <p:cNvSpPr/>
            <p:nvPr/>
          </p:nvSpPr>
          <p:spPr>
            <a:xfrm>
              <a:off x="495300" y="5514975"/>
              <a:ext cx="3429000" cy="83820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9525">
              <a:solidFill>
                <a:srgbClr val="A9B7B3"/>
              </a:solidFill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781050" y="5791200"/>
              <a:ext cx="228600" cy="228600"/>
              <a:chOff x="781050" y="5791200"/>
              <a:chExt cx="228600" cy="2286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933450" y="58547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27" y="0"/>
                    </a:lnTo>
                  </a:path>
                </a:pathLst>
              </a:custGeom>
              <a:noFill/>
              <a:ln w="19050">
                <a:solidFill>
                  <a:srgbClr val="0F4D92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781050" y="5791200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38100"/>
                    </a:moveTo>
                    <a:cubicBezTo>
                      <a:pt x="0" y="17058"/>
                      <a:pt x="17058" y="0"/>
                      <a:pt x="38100" y="0"/>
                    </a:cubicBezTo>
                    <a:lnTo>
                      <a:pt x="190500" y="0"/>
                    </a:lnTo>
                    <a:cubicBezTo>
                      <a:pt x="211542" y="0"/>
                      <a:pt x="228600" y="17058"/>
                      <a:pt x="228600" y="38100"/>
                    </a:cubicBezTo>
                    <a:lnTo>
                      <a:pt x="228600" y="190500"/>
                    </a:lnTo>
                    <a:cubicBezTo>
                      <a:pt x="228600" y="211542"/>
                      <a:pt x="211542" y="228600"/>
                      <a:pt x="190500" y="228600"/>
                    </a:cubicBezTo>
                    <a:lnTo>
                      <a:pt x="38100" y="228600"/>
                    </a:lnTo>
                    <a:cubicBezTo>
                      <a:pt x="17058" y="228600"/>
                      <a:pt x="0" y="211542"/>
                      <a:pt x="0" y="190500"/>
                    </a:cubicBezTo>
                    <a:lnTo>
                      <a:pt x="0" y="38100"/>
                    </a:lnTo>
                  </a:path>
                </a:pathLst>
              </a:custGeom>
              <a:noFill/>
              <a:ln w="19050">
                <a:solidFill>
                  <a:srgbClr val="0F4D92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781050" y="5881459"/>
                <a:ext cx="165100" cy="74841"/>
              </a:xfrm>
              <a:custGeom>
                <a:avLst/>
                <a:gdLst/>
                <a:ahLst/>
                <a:cxnLst/>
                <a:rect l="l" t="t" r="r" b="b"/>
                <a:pathLst>
                  <a:path w="165100" h="74841">
                    <a:moveTo>
                      <a:pt x="0" y="74841"/>
                    </a:moveTo>
                    <a:lnTo>
                      <a:pt x="63500" y="11341"/>
                    </a:lnTo>
                    <a:cubicBezTo>
                      <a:pt x="75286" y="0"/>
                      <a:pt x="89814" y="0"/>
                      <a:pt x="101600" y="11341"/>
                    </a:cubicBezTo>
                    <a:lnTo>
                      <a:pt x="165100" y="74841"/>
                    </a:lnTo>
                  </a:path>
                </a:pathLst>
              </a:custGeom>
              <a:noFill/>
              <a:ln w="19050">
                <a:solidFill>
                  <a:srgbClr val="0F4D92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920750" y="5906859"/>
                <a:ext cx="88900" cy="49441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49441">
                    <a:moveTo>
                      <a:pt x="0" y="24041"/>
                    </a:moveTo>
                    <a:lnTo>
                      <a:pt x="12700" y="11341"/>
                    </a:lnTo>
                    <a:cubicBezTo>
                      <a:pt x="24486" y="0"/>
                      <a:pt x="39014" y="0"/>
                      <a:pt x="50800" y="11341"/>
                    </a:cubicBezTo>
                    <a:lnTo>
                      <a:pt x="88900" y="49441"/>
                    </a:lnTo>
                  </a:path>
                </a:pathLst>
              </a:custGeom>
              <a:noFill/>
              <a:ln w="19050">
                <a:solidFill>
                  <a:srgbClr val="0F4D92"/>
                </a:solidFill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1163955" y="5721668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图像编码器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67765" y="6039802"/>
              <a:ext cx="32470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300×300 输入；EfficientNet-B3 输出 1536 维特征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4381500" y="5514975"/>
            <a:ext cx="3478482" cy="838200"/>
            <a:chOff x="4381500" y="5514975"/>
            <a:chExt cx="3478482" cy="838200"/>
          </a:xfrm>
        </p:grpSpPr>
        <p:sp>
          <p:nvSpPr>
            <p:cNvPr id="22" name="Rectangle 22"/>
            <p:cNvSpPr/>
            <p:nvPr/>
          </p:nvSpPr>
          <p:spPr>
            <a:xfrm>
              <a:off x="4381500" y="5514975"/>
              <a:ext cx="3429000" cy="83820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9525">
              <a:solidFill>
                <a:srgbClr val="A9B7B3"/>
              </a:solidFill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4667250" y="5791200"/>
              <a:ext cx="228600" cy="228600"/>
              <a:chOff x="4667250" y="5791200"/>
              <a:chExt cx="228600" cy="2286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4781550" y="5918200"/>
                <a:ext cx="889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101600">
                    <a:moveTo>
                      <a:pt x="44450" y="0"/>
                    </a:moveTo>
                    <a:cubicBezTo>
                      <a:pt x="19901" y="0"/>
                      <a:pt x="0" y="19901"/>
                      <a:pt x="0" y="44450"/>
                    </a:cubicBezTo>
                    <a:lnTo>
                      <a:pt x="0" y="57150"/>
                    </a:lnTo>
                    <a:cubicBezTo>
                      <a:pt x="0" y="81699"/>
                      <a:pt x="19901" y="101600"/>
                      <a:pt x="44450" y="101600"/>
                    </a:cubicBezTo>
                    <a:cubicBezTo>
                      <a:pt x="68999" y="101600"/>
                      <a:pt x="88900" y="81699"/>
                      <a:pt x="88900" y="57150"/>
                    </a:cubicBezTo>
                    <a:lnTo>
                      <a:pt x="88900" y="34290"/>
                    </a:lnTo>
                  </a:path>
                </a:pathLst>
              </a:custGeom>
              <a:noFill/>
              <a:ln w="19050">
                <a:solidFill>
                  <a:srgbClr val="00796B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4692650" y="5918200"/>
                <a:ext cx="889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101600">
                    <a:moveTo>
                      <a:pt x="44450" y="0"/>
                    </a:moveTo>
                    <a:cubicBezTo>
                      <a:pt x="68999" y="0"/>
                      <a:pt x="88900" y="19901"/>
                      <a:pt x="88900" y="44450"/>
                    </a:cubicBezTo>
                    <a:lnTo>
                      <a:pt x="88900" y="57150"/>
                    </a:lnTo>
                    <a:cubicBezTo>
                      <a:pt x="88900" y="81699"/>
                      <a:pt x="68999" y="101600"/>
                      <a:pt x="44450" y="101600"/>
                    </a:cubicBezTo>
                    <a:cubicBezTo>
                      <a:pt x="19901" y="101600"/>
                      <a:pt x="0" y="81699"/>
                      <a:pt x="0" y="57150"/>
                    </a:cubicBezTo>
                    <a:lnTo>
                      <a:pt x="0" y="34290"/>
                    </a:lnTo>
                  </a:path>
                </a:pathLst>
              </a:custGeom>
              <a:noFill/>
              <a:ln w="19050">
                <a:solidFill>
                  <a:srgbClr val="00796B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4845050" y="5867400"/>
                <a:ext cx="508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88900">
                    <a:moveTo>
                      <a:pt x="6350" y="88900"/>
                    </a:moveTo>
                    <a:cubicBezTo>
                      <a:pt x="30899" y="88900"/>
                      <a:pt x="50800" y="68999"/>
                      <a:pt x="50800" y="44450"/>
                    </a:cubicBezTo>
                    <a:cubicBezTo>
                      <a:pt x="50800" y="19901"/>
                      <a:pt x="30899" y="0"/>
                      <a:pt x="6350" y="0"/>
                    </a:cubicBez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0796B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4781550" y="5791200"/>
                <a:ext cx="88900" cy="8001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80010">
                    <a:moveTo>
                      <a:pt x="88900" y="80010"/>
                    </a:moveTo>
                    <a:lnTo>
                      <a:pt x="88900" y="44450"/>
                    </a:lnTo>
                    <a:cubicBezTo>
                      <a:pt x="88900" y="19901"/>
                      <a:pt x="68999" y="0"/>
                      <a:pt x="44450" y="0"/>
                    </a:cubicBezTo>
                    <a:cubicBezTo>
                      <a:pt x="19901" y="0"/>
                      <a:pt x="0" y="19901"/>
                      <a:pt x="0" y="44450"/>
                    </a:cubicBezTo>
                  </a:path>
                </a:pathLst>
              </a:custGeom>
              <a:noFill/>
              <a:ln w="19050">
                <a:solidFill>
                  <a:srgbClr val="00796B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4667250" y="5867400"/>
                <a:ext cx="508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88900">
                    <a:moveTo>
                      <a:pt x="44450" y="88900"/>
                    </a:moveTo>
                    <a:cubicBezTo>
                      <a:pt x="19901" y="88900"/>
                      <a:pt x="0" y="68999"/>
                      <a:pt x="0" y="44450"/>
                    </a:cubicBezTo>
                    <a:cubicBezTo>
                      <a:pt x="0" y="19901"/>
                      <a:pt x="19901" y="0"/>
                      <a:pt x="44450" y="0"/>
                    </a:cubicBezTo>
                    <a:lnTo>
                      <a:pt x="50800" y="0"/>
                    </a:lnTo>
                  </a:path>
                </a:pathLst>
              </a:custGeom>
              <a:noFill/>
              <a:ln w="19050">
                <a:solidFill>
                  <a:srgbClr val="00796B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4692650" y="5791200"/>
                <a:ext cx="889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171450">
                    <a:moveTo>
                      <a:pt x="0" y="80010"/>
                    </a:moveTo>
                    <a:lnTo>
                      <a:pt x="0" y="44450"/>
                    </a:lnTo>
                    <a:cubicBezTo>
                      <a:pt x="0" y="19901"/>
                      <a:pt x="19901" y="0"/>
                      <a:pt x="44450" y="0"/>
                    </a:cubicBezTo>
                    <a:cubicBezTo>
                      <a:pt x="68999" y="0"/>
                      <a:pt x="88900" y="19901"/>
                      <a:pt x="88900" y="44450"/>
                    </a:cubicBezTo>
                    <a:lnTo>
                      <a:pt x="88900" y="171450"/>
                    </a:lnTo>
                  </a:path>
                </a:pathLst>
              </a:custGeom>
              <a:noFill/>
              <a:ln w="19050">
                <a:solidFill>
                  <a:srgbClr val="00796B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5050155" y="5721668"/>
              <a:ext cx="11684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医学文本编码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053965" y="6039802"/>
              <a:ext cx="280601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检查方式 + 检查所见；医学 BERT CLS 768 维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8267700" y="5514975"/>
            <a:ext cx="3429000" cy="838200"/>
            <a:chOff x="8267700" y="5514975"/>
            <a:chExt cx="3429000" cy="838200"/>
          </a:xfrm>
        </p:grpSpPr>
        <p:sp>
          <p:nvSpPr>
            <p:cNvPr id="33" name="Rectangle 33"/>
            <p:cNvSpPr/>
            <p:nvPr/>
          </p:nvSpPr>
          <p:spPr>
            <a:xfrm>
              <a:off x="8267700" y="5514975"/>
              <a:ext cx="3429000" cy="83820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9525">
              <a:solidFill>
                <a:srgbClr val="A9B7B3"/>
              </a:solidFill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8566150" y="5791200"/>
              <a:ext cx="203200" cy="228600"/>
              <a:chOff x="8566150" y="5791200"/>
              <a:chExt cx="203200" cy="22860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8566150" y="5791200"/>
                <a:ext cx="203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03200" h="76200">
                    <a:moveTo>
                      <a:pt x="0" y="38100"/>
                    </a:moveTo>
                    <a:cubicBezTo>
                      <a:pt x="0" y="59142"/>
                      <a:pt x="45488" y="76200"/>
                      <a:pt x="101600" y="76200"/>
                    </a:cubicBezTo>
                    <a:cubicBezTo>
                      <a:pt x="157712" y="76200"/>
                      <a:pt x="203200" y="59142"/>
                      <a:pt x="203200" y="38100"/>
                    </a:cubicBezTo>
                    <a:cubicBezTo>
                      <a:pt x="203200" y="17058"/>
                      <a:pt x="157712" y="0"/>
                      <a:pt x="101600" y="0"/>
                    </a:cubicBezTo>
                    <a:cubicBezTo>
                      <a:pt x="45488" y="0"/>
                      <a:pt x="0" y="17058"/>
                      <a:pt x="0" y="38100"/>
                    </a:cubicBezTo>
                  </a:path>
                </a:pathLst>
              </a:custGeom>
              <a:noFill/>
              <a:ln w="19050">
                <a:solidFill>
                  <a:srgbClr val="B64342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566150" y="5829300"/>
                <a:ext cx="2032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03200" h="114300">
                    <a:moveTo>
                      <a:pt x="0" y="0"/>
                    </a:moveTo>
                    <a:lnTo>
                      <a:pt x="0" y="76200"/>
                    </a:lnTo>
                    <a:cubicBezTo>
                      <a:pt x="0" y="97242"/>
                      <a:pt x="45488" y="114300"/>
                      <a:pt x="101600" y="114300"/>
                    </a:cubicBezTo>
                    <a:cubicBezTo>
                      <a:pt x="157712" y="114300"/>
                      <a:pt x="203200" y="97242"/>
                      <a:pt x="203200" y="76200"/>
                    </a:cubicBezTo>
                    <a:lnTo>
                      <a:pt x="203200" y="0"/>
                    </a:lnTo>
                  </a:path>
                </a:pathLst>
              </a:custGeom>
              <a:noFill/>
              <a:ln w="19050">
                <a:solidFill>
                  <a:srgbClr val="B64342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566150" y="5905500"/>
                <a:ext cx="2032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03200" h="114300">
                    <a:moveTo>
                      <a:pt x="0" y="0"/>
                    </a:moveTo>
                    <a:lnTo>
                      <a:pt x="0" y="76200"/>
                    </a:lnTo>
                    <a:cubicBezTo>
                      <a:pt x="0" y="97242"/>
                      <a:pt x="45488" y="114300"/>
                      <a:pt x="101600" y="114300"/>
                    </a:cubicBezTo>
                    <a:cubicBezTo>
                      <a:pt x="157712" y="114300"/>
                      <a:pt x="203200" y="97242"/>
                      <a:pt x="203200" y="76200"/>
                    </a:cubicBezTo>
                    <a:lnTo>
                      <a:pt x="203200" y="0"/>
                    </a:lnTo>
                  </a:path>
                </a:pathLst>
              </a:custGeom>
              <a:noFill/>
              <a:ln w="19050">
                <a:solidFill>
                  <a:srgbClr val="B64342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8936355" y="5721668"/>
              <a:ext cx="11684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门控融合分类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941118" y="6047899"/>
              <a:ext cx="217653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4748B"/>
                  </a:solidFill>
                  <a:latin typeface="Consolas"/>
                  <a:ea typeface="Microsoft YaHei"/>
                  <a:cs typeface="Consolas"/>
                </a:rPr>
                <a:t>g·image + (1-g)·text → 512→256→3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484822" y="6578441"/>
            <a:ext cx="11222355" cy="167640"/>
            <a:chOff x="484822" y="6578441"/>
            <a:chExt cx="11222355" cy="167640"/>
          </a:xfrm>
        </p:grpSpPr>
        <p:sp>
          <p:nvSpPr>
            <p:cNvPr id="41" name="TextBox 41"/>
            <p:cNvSpPr txBox="1"/>
            <p:nvPr/>
          </p:nvSpPr>
          <p:spPr>
            <a:xfrm>
              <a:off x="484822" y="6578441"/>
              <a:ext cx="520810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Nature-style method figure generated by Python/matplotlib from project implementation details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317676" y="6578441"/>
              <a:ext cx="38950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02 / 04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1" grpId="0"/>
      <p:bldP spid="32" grpId="0"/>
      <p:bldP spid="4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AF9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876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866775"/>
              <a:ext cx="12192000" cy="9525"/>
            </a:xfrm>
            <a:prstGeom prst="rect">
              <a:avLst/>
            </a:prstGeom>
            <a:solidFill>
              <a:srgbClr val="A9B7B3">
                <a:alpha val="55000"/>
              </a:srgbClr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464820" y="198120"/>
            <a:ext cx="11245215" cy="644842"/>
            <a:chOff x="464820" y="198120"/>
            <a:chExt cx="11245215" cy="644842"/>
          </a:xfrm>
        </p:grpSpPr>
        <p:sp>
          <p:nvSpPr>
            <p:cNvPr id="6" name="TextBox 6"/>
            <p:cNvSpPr txBox="1"/>
            <p:nvPr/>
          </p:nvSpPr>
          <p:spPr>
            <a:xfrm>
              <a:off x="464820" y="198120"/>
              <a:ext cx="6781800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优先级队列让医生即时操作不被批量任务阻塞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81965" y="629602"/>
              <a:ext cx="62854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单例 priority=0，批量 priority=5；模型调用由单 worker 串行化，聚合任务在全部图像完成后触发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918869" y="401002"/>
              <a:ext cx="79116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rgbClr val="00796B"/>
                  </a:solidFill>
                  <a:latin typeface="Arial"/>
                  <a:ea typeface="Microsoft YaHei"/>
                  <a:cs typeface="Arial"/>
                </a:rPr>
                <a:t>WORKFLOW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95300" y="1219200"/>
            <a:ext cx="11201400" cy="4010025"/>
            <a:chOff x="495300" y="1219200"/>
            <a:chExt cx="11201400" cy="4010025"/>
          </a:xfrm>
        </p:grpSpPr>
        <p:sp>
          <p:nvSpPr>
            <p:cNvPr id="10" name="Rectangle 10"/>
            <p:cNvSpPr/>
            <p:nvPr/>
          </p:nvSpPr>
          <p:spPr>
            <a:xfrm>
              <a:off x="495300" y="1219200"/>
              <a:ext cx="11201400" cy="3943350"/>
            </a:xfrm>
            <a:prstGeom prst="roundRect">
              <a:avLst>
                <a:gd name="adj" fmla="val 1932"/>
              </a:avLst>
            </a:prstGeom>
            <a:solidFill>
              <a:srgbClr val="FFFFFF"/>
            </a:solidFill>
            <a:ln w="9525">
              <a:solidFill>
                <a:srgbClr val="A9B7B3"/>
              </a:solidFill>
            </a:ln>
          </p:spPr>
        </p:sp>
        <p:pic>
          <p:nvPicPr>
            <p:cNvPr id="11" name="Image 1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71500" y="1362075"/>
              <a:ext cx="11049000" cy="3867150"/>
            </a:xfrm>
            <a:prstGeom prst="roundRect">
              <a:avLst>
                <a:gd name="adj" fmla="val 1970"/>
              </a:avLst>
            </a:prstGeom>
          </p:spPr>
        </p:pic>
      </p:grpSp>
      <p:grpSp>
        <p:nvGrpSpPr>
          <p:cNvPr id="20" name="Group 20"/>
          <p:cNvGrpSpPr/>
          <p:nvPr/>
        </p:nvGrpSpPr>
        <p:grpSpPr>
          <a:xfrm>
            <a:off x="495300" y="5438775"/>
            <a:ext cx="4451604" cy="914400"/>
            <a:chOff x="495300" y="5438775"/>
            <a:chExt cx="4451604" cy="914400"/>
          </a:xfrm>
        </p:grpSpPr>
        <p:sp>
          <p:nvSpPr>
            <p:cNvPr id="13" name="Rectangle 13"/>
            <p:cNvSpPr/>
            <p:nvPr/>
          </p:nvSpPr>
          <p:spPr>
            <a:xfrm>
              <a:off x="495300" y="5438775"/>
              <a:ext cx="3476625" cy="91440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9525">
              <a:solidFill>
                <a:srgbClr val="A9B7B3"/>
              </a:solidFill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806450" y="5715000"/>
              <a:ext cx="177800" cy="228600"/>
              <a:chOff x="806450" y="5715000"/>
              <a:chExt cx="177800" cy="2286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806450" y="5740400"/>
                <a:ext cx="177800" cy="203200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203200">
                    <a:moveTo>
                      <a:pt x="50800" y="0"/>
                    </a:moveTo>
                    <a:lnTo>
                      <a:pt x="25400" y="0"/>
                    </a:lnTo>
                    <a:cubicBezTo>
                      <a:pt x="11372" y="0"/>
                      <a:pt x="0" y="11372"/>
                      <a:pt x="0" y="25400"/>
                    </a:cubicBezTo>
                    <a:lnTo>
                      <a:pt x="0" y="177800"/>
                    </a:lnTo>
                    <a:cubicBezTo>
                      <a:pt x="0" y="191828"/>
                      <a:pt x="11372" y="203200"/>
                      <a:pt x="25400" y="203200"/>
                    </a:cubicBezTo>
                    <a:lnTo>
                      <a:pt x="152400" y="203200"/>
                    </a:lnTo>
                    <a:cubicBezTo>
                      <a:pt x="166428" y="203200"/>
                      <a:pt x="177800" y="191828"/>
                      <a:pt x="177800" y="177800"/>
                    </a:cubicBezTo>
                    <a:lnTo>
                      <a:pt x="177800" y="25400"/>
                    </a:lnTo>
                    <a:cubicBezTo>
                      <a:pt x="177800" y="11372"/>
                      <a:pt x="166428" y="0"/>
                      <a:pt x="152400" y="0"/>
                    </a:cubicBezTo>
                    <a:lnTo>
                      <a:pt x="127000" y="0"/>
                    </a:lnTo>
                  </a:path>
                </a:pathLst>
              </a:custGeom>
              <a:noFill/>
              <a:ln w="19050">
                <a:solidFill>
                  <a:srgbClr val="0F4D92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857250" y="5715000"/>
                <a:ext cx="762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0800">
                    <a:moveTo>
                      <a:pt x="0" y="25400"/>
                    </a:moveTo>
                    <a:cubicBezTo>
                      <a:pt x="0" y="11372"/>
                      <a:pt x="11372" y="0"/>
                      <a:pt x="25400" y="0"/>
                    </a:cubicBezTo>
                    <a:lnTo>
                      <a:pt x="50800" y="0"/>
                    </a:lnTo>
                    <a:cubicBezTo>
                      <a:pt x="64828" y="0"/>
                      <a:pt x="76200" y="11372"/>
                      <a:pt x="76200" y="25400"/>
                    </a:cubicBezTo>
                    <a:cubicBezTo>
                      <a:pt x="76200" y="39428"/>
                      <a:pt x="64828" y="50800"/>
                      <a:pt x="50800" y="50800"/>
                    </a:cubicBezTo>
                    <a:lnTo>
                      <a:pt x="25400" y="50800"/>
                    </a:lnTo>
                    <a:cubicBezTo>
                      <a:pt x="11372" y="50800"/>
                      <a:pt x="0" y="39428"/>
                      <a:pt x="0" y="25400"/>
                    </a:cubicBezTo>
                  </a:path>
                </a:pathLst>
              </a:custGeom>
              <a:noFill/>
              <a:ln w="19050">
                <a:solidFill>
                  <a:srgbClr val="0F4D92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857250" y="5829300"/>
                <a:ext cx="762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0800">
                    <a:moveTo>
                      <a:pt x="0" y="25400"/>
                    </a:moveTo>
                    <a:lnTo>
                      <a:pt x="25400" y="50800"/>
                    </a:ln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rgbClr val="0F4D92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163955" y="5674042"/>
              <a:ext cx="218915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单例推理：202 + task_id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67765" y="5992178"/>
              <a:ext cx="377913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上传 1-30 张图，前端轮询任务状态，完成后读取病例详情。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4362450" y="5438775"/>
            <a:ext cx="4661630" cy="914400"/>
            <a:chOff x="4362450" y="5438775"/>
            <a:chExt cx="4661630" cy="914400"/>
          </a:xfrm>
        </p:grpSpPr>
        <p:sp>
          <p:nvSpPr>
            <p:cNvPr id="21" name="Rectangle 21"/>
            <p:cNvSpPr/>
            <p:nvPr/>
          </p:nvSpPr>
          <p:spPr>
            <a:xfrm>
              <a:off x="4362450" y="5438775"/>
              <a:ext cx="3476625" cy="91440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9525">
              <a:solidFill>
                <a:srgbClr val="A9B7B3"/>
              </a:solidFill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4648200" y="5715000"/>
              <a:ext cx="228600" cy="228600"/>
              <a:chOff x="4648200" y="5715000"/>
              <a:chExt cx="228600" cy="2286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4648200" y="5892800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25400"/>
                    </a:move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</a:path>
                </a:pathLst>
              </a:custGeom>
              <a:noFill/>
              <a:ln w="19050">
                <a:solidFill>
                  <a:srgbClr val="D08A24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4826000" y="5715000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25400" y="50800"/>
                    </a:move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  <a:cubicBezTo>
                      <a:pt x="0" y="39428"/>
                      <a:pt x="11372" y="50800"/>
                      <a:pt x="25400" y="50800"/>
                    </a:cubicBezTo>
                  </a:path>
                </a:pathLst>
              </a:custGeom>
              <a:noFill/>
              <a:ln w="19050">
                <a:solidFill>
                  <a:srgbClr val="D08A24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4673600" y="5740400"/>
                <a:ext cx="1905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77800">
                    <a:moveTo>
                      <a:pt x="76200" y="177800"/>
                    </a:moveTo>
                    <a:lnTo>
                      <a:pt x="146050" y="177800"/>
                    </a:lnTo>
                    <a:cubicBezTo>
                      <a:pt x="170599" y="177800"/>
                      <a:pt x="190500" y="157899"/>
                      <a:pt x="190500" y="133350"/>
                    </a:cubicBezTo>
                    <a:cubicBezTo>
                      <a:pt x="190500" y="108801"/>
                      <a:pt x="170599" y="88900"/>
                      <a:pt x="146050" y="88900"/>
                    </a:cubicBezTo>
                    <a:lnTo>
                      <a:pt x="44450" y="88900"/>
                    </a:lnTo>
                    <a:cubicBezTo>
                      <a:pt x="19901" y="88900"/>
                      <a:pt x="0" y="68999"/>
                      <a:pt x="0" y="44450"/>
                    </a:cubicBezTo>
                    <a:cubicBezTo>
                      <a:pt x="0" y="19901"/>
                      <a:pt x="19901" y="0"/>
                      <a:pt x="44450" y="0"/>
                    </a:cubicBezTo>
                    <a:lnTo>
                      <a:pt x="101600" y="0"/>
                    </a:lnTo>
                  </a:path>
                </a:pathLst>
              </a:custGeom>
              <a:noFill/>
              <a:ln w="19050">
                <a:solidFill>
                  <a:srgbClr val="D08A24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5031105" y="5674042"/>
              <a:ext cx="224586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批量推理：ZIP 安全流水线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034915" y="5992178"/>
              <a:ext cx="398916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manifest 校验、zip-bomb 防护、限流、取消和重启失败保护。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8229600" y="5438775"/>
            <a:ext cx="3467100" cy="914400"/>
            <a:chOff x="8229600" y="5438775"/>
            <a:chExt cx="3467100" cy="914400"/>
          </a:xfrm>
        </p:grpSpPr>
        <p:sp>
          <p:nvSpPr>
            <p:cNvPr id="29" name="Rectangle 29"/>
            <p:cNvSpPr/>
            <p:nvPr/>
          </p:nvSpPr>
          <p:spPr>
            <a:xfrm>
              <a:off x="8229600" y="5438775"/>
              <a:ext cx="3467100" cy="91440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9525">
              <a:solidFill>
                <a:srgbClr val="A9B7B3"/>
              </a:solidFill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8515350" y="5715000"/>
              <a:ext cx="228600" cy="228600"/>
              <a:chOff x="8515350" y="5715000"/>
              <a:chExt cx="228600" cy="22860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8540750" y="5715000"/>
                <a:ext cx="1016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101600">
                    <a:moveTo>
                      <a:pt x="0" y="50800"/>
                    </a:moveTo>
                    <a:cubicBezTo>
                      <a:pt x="0" y="78856"/>
                      <a:pt x="22744" y="101600"/>
                      <a:pt x="50800" y="101600"/>
                    </a:cubicBezTo>
                    <a:cubicBezTo>
                      <a:pt x="78856" y="101600"/>
                      <a:pt x="101600" y="78856"/>
                      <a:pt x="101600" y="50800"/>
                    </a:cubicBezTo>
                    <a:cubicBezTo>
                      <a:pt x="101600" y="22744"/>
                      <a:pt x="78856" y="0"/>
                      <a:pt x="50800" y="0"/>
                    </a:cubicBezTo>
                    <a:cubicBezTo>
                      <a:pt x="22744" y="0"/>
                      <a:pt x="0" y="22744"/>
                      <a:pt x="0" y="50800"/>
                    </a:cubicBezTo>
                  </a:path>
                </a:pathLst>
              </a:custGeom>
              <a:noFill/>
              <a:ln w="19050">
                <a:solidFill>
                  <a:srgbClr val="B64342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515350" y="5867400"/>
                <a:ext cx="1524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76200">
                    <a:moveTo>
                      <a:pt x="0" y="76200"/>
                    </a:moveTo>
                    <a:lnTo>
                      <a:pt x="0" y="50800"/>
                    </a:lnTo>
                    <a:cubicBezTo>
                      <a:pt x="0" y="22744"/>
                      <a:pt x="22744" y="0"/>
                      <a:pt x="50800" y="0"/>
                    </a:cubicBezTo>
                    <a:lnTo>
                      <a:pt x="101600" y="0"/>
                    </a:lnTo>
                    <a:cubicBezTo>
                      <a:pt x="129656" y="0"/>
                      <a:pt x="152400" y="22744"/>
                      <a:pt x="152400" y="50800"/>
                    </a:cubicBezTo>
                    <a:lnTo>
                      <a:pt x="152400" y="76200"/>
                    </a:lnTo>
                  </a:path>
                </a:pathLst>
              </a:custGeom>
              <a:noFill/>
              <a:ln w="19050">
                <a:solidFill>
                  <a:srgbClr val="B64342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680450" y="5716651"/>
                <a:ext cx="38200" cy="98425"/>
              </a:xfrm>
              <a:custGeom>
                <a:avLst/>
                <a:gdLst/>
                <a:ahLst/>
                <a:cxnLst/>
                <a:rect l="l" t="t" r="r" b="b"/>
                <a:pathLst>
                  <a:path w="38200" h="98425">
                    <a:moveTo>
                      <a:pt x="0" y="0"/>
                    </a:moveTo>
                    <a:cubicBezTo>
                      <a:pt x="22478" y="5755"/>
                      <a:pt x="38200" y="26009"/>
                      <a:pt x="38200" y="49213"/>
                    </a:cubicBezTo>
                    <a:cubicBezTo>
                      <a:pt x="38200" y="72416"/>
                      <a:pt x="22478" y="92670"/>
                      <a:pt x="0" y="98425"/>
                    </a:cubicBezTo>
                  </a:path>
                </a:pathLst>
              </a:custGeom>
              <a:noFill/>
              <a:ln w="19050">
                <a:solidFill>
                  <a:srgbClr val="B64342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8705850" y="5869305"/>
                <a:ext cx="38100" cy="74295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74295">
                    <a:moveTo>
                      <a:pt x="38100" y="74295"/>
                    </a:moveTo>
                    <a:lnTo>
                      <a:pt x="38100" y="48895"/>
                    </a:lnTo>
                    <a:cubicBezTo>
                      <a:pt x="37967" y="25839"/>
                      <a:pt x="22324" y="5764"/>
                      <a:pt x="0" y="0"/>
                    </a:cubicBezTo>
                  </a:path>
                </a:pathLst>
              </a:custGeom>
              <a:noFill/>
              <a:ln w="19050">
                <a:solidFill>
                  <a:srgbClr val="B64342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8898255" y="5674042"/>
              <a:ext cx="211355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患者级聚合：可插拔策略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903018" y="6000274"/>
              <a:ext cx="237805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4748B"/>
                  </a:solidFill>
                  <a:latin typeface="Consolas"/>
                  <a:ea typeface="Microsoft YaHei"/>
                  <a:cs typeface="Consolas"/>
                </a:rPr>
                <a:t>mean / max_severity / majority_vote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484822" y="6578441"/>
            <a:ext cx="11222355" cy="167640"/>
            <a:chOff x="484822" y="6578441"/>
            <a:chExt cx="11222355" cy="167640"/>
          </a:xfrm>
        </p:grpSpPr>
        <p:sp>
          <p:nvSpPr>
            <p:cNvPr id="38" name="TextBox 38"/>
            <p:cNvSpPr txBox="1"/>
            <p:nvPr/>
          </p:nvSpPr>
          <p:spPr>
            <a:xfrm>
              <a:off x="484822" y="6578441"/>
              <a:ext cx="542813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Implementation scan: backend/app/services/inference_queue.py, batch_pipeline.py, api/predict.py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317676" y="6578441"/>
              <a:ext cx="38950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03 / 04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0" grpId="0"/>
      <p:bldP spid="28" grpId="0"/>
      <p:bldP spid="3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-400050" y="-285750"/>
            <a:ext cx="12896850" cy="7448550"/>
            <a:chOff x="-400050" y="-285750"/>
            <a:chExt cx="12896850" cy="74485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AF9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DCEDEA">
                <a:alpha val="35000"/>
              </a:srgbClr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9982200" y="-285750"/>
              <a:ext cx="2514600" cy="2514600"/>
            </a:xfrm>
            <a:prstGeom prst="ellipse">
              <a:avLst/>
            </a:prstGeom>
            <a:solidFill>
              <a:srgbClr val="DDE9F5">
                <a:alpha val="62000"/>
              </a:srgb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-400050" y="4953000"/>
              <a:ext cx="2209800" cy="2209800"/>
            </a:xfrm>
            <a:prstGeom prst="ellipse">
              <a:avLst/>
            </a:prstGeom>
            <a:solidFill>
              <a:srgbClr val="F4D9D7">
                <a:alpha val="45000"/>
              </a:srgbClr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464820" y="331470"/>
            <a:ext cx="7789926" cy="749618"/>
            <a:chOff x="464820" y="331470"/>
            <a:chExt cx="7789926" cy="749618"/>
          </a:xfrm>
        </p:grpSpPr>
        <p:sp>
          <p:nvSpPr>
            <p:cNvPr id="7" name="TextBox 7"/>
            <p:cNvSpPr txBox="1"/>
            <p:nvPr/>
          </p:nvSpPr>
          <p:spPr>
            <a:xfrm>
              <a:off x="464820" y="331470"/>
              <a:ext cx="778992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诊断价值来自模型、解释、报告、审计和运维的闭环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78155" y="806768"/>
              <a:ext cx="605604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系统不是单点预测器，而是把 AI 结果接入医生复核、病例留痕和生产监控。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95300" y="1619250"/>
            <a:ext cx="6667500" cy="2362200"/>
            <a:chOff x="495300" y="1619250"/>
            <a:chExt cx="6667500" cy="2362200"/>
          </a:xfrm>
        </p:grpSpPr>
        <p:sp>
          <p:nvSpPr>
            <p:cNvPr id="10" name="Rectangle 10"/>
            <p:cNvSpPr/>
            <p:nvPr/>
          </p:nvSpPr>
          <p:spPr>
            <a:xfrm>
              <a:off x="495300" y="1619250"/>
              <a:ext cx="6667500" cy="2333625"/>
            </a:xfrm>
            <a:prstGeom prst="roundRect">
              <a:avLst>
                <a:gd name="adj" fmla="val 3265"/>
              </a:avLst>
            </a:prstGeom>
            <a:solidFill>
              <a:srgbClr val="FFFFFF"/>
            </a:solidFill>
            <a:ln w="9525">
              <a:solidFill>
                <a:srgbClr val="A9B7B3"/>
              </a:solidFill>
            </a:ln>
          </p:spPr>
        </p:sp>
        <p:pic>
          <p:nvPicPr>
            <p:cNvPr id="11" name="Image 1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71500" y="1704975"/>
              <a:ext cx="6515100" cy="2276475"/>
            </a:xfrm>
            <a:prstGeom prst="roundRect">
              <a:avLst>
                <a:gd name="adj" fmla="val 3347"/>
              </a:avLst>
            </a:prstGeom>
          </p:spPr>
        </p:pic>
      </p:grpSp>
      <p:grpSp>
        <p:nvGrpSpPr>
          <p:cNvPr id="39" name="Group 39"/>
          <p:cNvGrpSpPr/>
          <p:nvPr/>
        </p:nvGrpSpPr>
        <p:grpSpPr>
          <a:xfrm>
            <a:off x="7648575" y="1590675"/>
            <a:ext cx="4780954" cy="3602831"/>
            <a:chOff x="7648575" y="1590675"/>
            <a:chExt cx="4780954" cy="3602831"/>
          </a:xfrm>
        </p:grpSpPr>
        <p:sp>
          <p:nvSpPr>
            <p:cNvPr id="13" name="Line 13"/>
            <p:cNvSpPr/>
            <p:nvPr/>
          </p:nvSpPr>
          <p:spPr>
            <a:xfrm>
              <a:off x="7734300" y="1590675"/>
              <a:ext cx="9525" cy="3571875"/>
            </a:xfrm>
            <a:custGeom>
              <a:avLst/>
              <a:gdLst/>
              <a:ahLst/>
              <a:cxnLst/>
              <a:rect l="l" t="t" r="r" b="b"/>
              <a:pathLst>
                <a:path w="9525" h="3571875">
                  <a:moveTo>
                    <a:pt x="0" y="0"/>
                  </a:moveTo>
                  <a:lnTo>
                    <a:pt x="0" y="3571875"/>
                  </a:lnTo>
                </a:path>
              </a:pathLst>
            </a:custGeom>
            <a:noFill/>
            <a:ln w="13335">
              <a:solidFill>
                <a:srgbClr val="A9B7B3"/>
              </a:solidFill>
              <a:prstDash val="dash"/>
            </a:ln>
          </p:spPr>
        </p:sp>
        <p:sp>
          <p:nvSpPr>
            <p:cNvPr id="14" name="Ellipse 14"/>
            <p:cNvSpPr/>
            <p:nvPr/>
          </p:nvSpPr>
          <p:spPr>
            <a:xfrm>
              <a:off x="7648575" y="1857375"/>
              <a:ext cx="171450" cy="171450"/>
            </a:xfrm>
            <a:prstGeom prst="ellipse">
              <a:avLst/>
            </a:prstGeom>
            <a:solidFill>
              <a:srgbClr val="00796B"/>
            </a:solidFill>
            <a:ln>
              <a:noFill/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8074819" y="1769269"/>
              <a:ext cx="214312" cy="214312"/>
              <a:chOff x="8074819" y="1769269"/>
              <a:chExt cx="214312" cy="214312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8193881" y="1888331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47625"/>
                    </a:moveTo>
                    <a:cubicBezTo>
                      <a:pt x="0" y="73928"/>
                      <a:pt x="21322" y="95250"/>
                      <a:pt x="47625" y="95250"/>
                    </a:cubicBezTo>
                    <a:cubicBezTo>
                      <a:pt x="73928" y="95250"/>
                      <a:pt x="95250" y="73928"/>
                      <a:pt x="95250" y="47625"/>
                    </a:cubicBezTo>
                    <a:cubicBezTo>
                      <a:pt x="95250" y="21322"/>
                      <a:pt x="73928" y="0"/>
                      <a:pt x="47625" y="0"/>
                    </a:cubicBezTo>
                    <a:cubicBezTo>
                      <a:pt x="21322" y="0"/>
                      <a:pt x="0" y="21322"/>
                      <a:pt x="0" y="47625"/>
                    </a:cubicBezTo>
                  </a:path>
                </a:pathLst>
              </a:custGeom>
              <a:noFill/>
              <a:ln w="19050">
                <a:solidFill>
                  <a:srgbClr val="00796B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8241506" y="1888331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0"/>
                    </a:moveTo>
                    <a:lnTo>
                      <a:pt x="0" y="47625"/>
                    </a:lnTo>
                    <a:lnTo>
                      <a:pt x="47625" y="47625"/>
                    </a:lnTo>
                  </a:path>
                </a:pathLst>
              </a:custGeom>
              <a:noFill/>
              <a:ln w="19050">
                <a:solidFill>
                  <a:srgbClr val="00796B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8181975" y="1769269"/>
                <a:ext cx="59531" cy="59531"/>
              </a:xfrm>
              <a:custGeom>
                <a:avLst/>
                <a:gdLst/>
                <a:ahLst/>
                <a:cxnLst/>
                <a:rect l="l" t="t" r="r" b="b"/>
                <a:pathLst>
                  <a:path w="59531" h="59531">
                    <a:moveTo>
                      <a:pt x="0" y="0"/>
                    </a:moveTo>
                    <a:lnTo>
                      <a:pt x="0" y="47625"/>
                    </a:lnTo>
                    <a:cubicBezTo>
                      <a:pt x="0" y="54201"/>
                      <a:pt x="5331" y="59531"/>
                      <a:pt x="11906" y="59531"/>
                    </a:cubicBezTo>
                    <a:lnTo>
                      <a:pt x="59531" y="59531"/>
                    </a:lnTo>
                  </a:path>
                </a:pathLst>
              </a:custGeom>
              <a:noFill/>
              <a:ln w="19050">
                <a:solidFill>
                  <a:srgbClr val="00796B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8074819" y="1769269"/>
                <a:ext cx="166688" cy="214312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214312">
                    <a:moveTo>
                      <a:pt x="101203" y="214312"/>
                    </a:moveTo>
                    <a:lnTo>
                      <a:pt x="23812" y="214312"/>
                    </a:lnTo>
                    <a:cubicBezTo>
                      <a:pt x="10661" y="214312"/>
                      <a:pt x="0" y="203651"/>
                      <a:pt x="0" y="190500"/>
                    </a:cubicBezTo>
                    <a:lnTo>
                      <a:pt x="0" y="23812"/>
                    </a:lnTo>
                    <a:cubicBezTo>
                      <a:pt x="0" y="10661"/>
                      <a:pt x="10661" y="0"/>
                      <a:pt x="23812" y="0"/>
                    </a:cubicBezTo>
                    <a:lnTo>
                      <a:pt x="107156" y="0"/>
                    </a:lnTo>
                    <a:lnTo>
                      <a:pt x="166688" y="59531"/>
                    </a:lnTo>
                    <a:lnTo>
                      <a:pt x="166688" y="83344"/>
                    </a:lnTo>
                    <a:moveTo>
                      <a:pt x="166688" y="119062"/>
                    </a:moveTo>
                    <a:lnTo>
                      <a:pt x="166688" y="166688"/>
                    </a:lnTo>
                  </a:path>
                </a:pathLst>
              </a:custGeom>
              <a:noFill/>
              <a:ln w="19050">
                <a:solidFill>
                  <a:srgbClr val="00796B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8458200" y="1762125"/>
              <a:ext cx="10882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解释与报告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462962" y="2078831"/>
              <a:ext cx="320147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逐图 Grad-CAM、患者级概率、中文 PDF 报告。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7648575" y="2819400"/>
              <a:ext cx="171450" cy="171450"/>
            </a:xfrm>
            <a:prstGeom prst="ellipse">
              <a:avLst/>
            </a:prstGeom>
            <a:solidFill>
              <a:srgbClr val="0F4D92"/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8069860" y="2731294"/>
              <a:ext cx="224229" cy="214312"/>
              <a:chOff x="8069860" y="2731294"/>
              <a:chExt cx="224229" cy="214312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8069860" y="2731294"/>
                <a:ext cx="224229" cy="214312"/>
              </a:xfrm>
              <a:custGeom>
                <a:avLst/>
                <a:gdLst/>
                <a:ahLst/>
                <a:cxnLst/>
                <a:rect l="l" t="t" r="r" b="b"/>
                <a:pathLst>
                  <a:path w="224229" h="214312">
                    <a:moveTo>
                      <a:pt x="112115" y="0"/>
                    </a:moveTo>
                    <a:cubicBezTo>
                      <a:pt x="139926" y="24605"/>
                      <a:pt x="176223" y="37416"/>
                      <a:pt x="213318" y="35719"/>
                    </a:cubicBezTo>
                    <a:cubicBezTo>
                      <a:pt x="224229" y="72837"/>
                      <a:pt x="219621" y="112793"/>
                      <a:pt x="200547" y="146453"/>
                    </a:cubicBezTo>
                    <a:cubicBezTo>
                      <a:pt x="181473" y="180113"/>
                      <a:pt x="149564" y="204599"/>
                      <a:pt x="112115" y="214312"/>
                    </a:cubicBezTo>
                    <a:cubicBezTo>
                      <a:pt x="74665" y="204599"/>
                      <a:pt x="42756" y="180113"/>
                      <a:pt x="23682" y="146453"/>
                    </a:cubicBezTo>
                    <a:cubicBezTo>
                      <a:pt x="4608" y="112793"/>
                      <a:pt x="0" y="72837"/>
                      <a:pt x="10911" y="35719"/>
                    </a:cubicBezTo>
                    <a:cubicBezTo>
                      <a:pt x="48006" y="37416"/>
                      <a:pt x="84304" y="24605"/>
                      <a:pt x="112115" y="0"/>
                    </a:cubicBezTo>
                  </a:path>
                </a:pathLst>
              </a:custGeom>
              <a:noFill/>
              <a:ln w="19050">
                <a:solidFill>
                  <a:srgbClr val="0F4D92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170069" y="2814638"/>
                <a:ext cx="23812" cy="23812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23812">
                    <a:moveTo>
                      <a:pt x="0" y="11906"/>
                    </a:moveTo>
                    <a:cubicBezTo>
                      <a:pt x="0" y="18482"/>
                      <a:pt x="5331" y="23812"/>
                      <a:pt x="11906" y="23812"/>
                    </a:cubicBezTo>
                    <a:cubicBezTo>
                      <a:pt x="18482" y="23812"/>
                      <a:pt x="23812" y="18482"/>
                      <a:pt x="23812" y="11906"/>
                    </a:cubicBezTo>
                    <a:cubicBezTo>
                      <a:pt x="23812" y="5331"/>
                      <a:pt x="18482" y="0"/>
                      <a:pt x="11906" y="0"/>
                    </a:cubicBezTo>
                    <a:cubicBezTo>
                      <a:pt x="5331" y="0"/>
                      <a:pt x="0" y="5331"/>
                      <a:pt x="0" y="11906"/>
                    </a:cubicBezTo>
                  </a:path>
                </a:pathLst>
              </a:custGeom>
              <a:noFill/>
              <a:ln w="19050">
                <a:solidFill>
                  <a:srgbClr val="0F4D92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8181975" y="2838450"/>
                <a:ext cx="9525" cy="29766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9766">
                    <a:moveTo>
                      <a:pt x="0" y="0"/>
                    </a:moveTo>
                    <a:lnTo>
                      <a:pt x="0" y="29766"/>
                    </a:lnTo>
                  </a:path>
                </a:pathLst>
              </a:custGeom>
              <a:noFill/>
              <a:ln w="19050">
                <a:solidFill>
                  <a:srgbClr val="0F4D92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8458200" y="2724150"/>
              <a:ext cx="10882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权限与审计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462962" y="3040856"/>
              <a:ext cx="347150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bcrypt、HttpOnly Cookie、失败锁定、审计 CSV。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7648575" y="3781425"/>
              <a:ext cx="171450" cy="171450"/>
            </a:xfrm>
            <a:prstGeom prst="ellipse">
              <a:avLst/>
            </a:prstGeom>
            <a:solidFill>
              <a:srgbClr val="D08A24"/>
            </a:solidFill>
            <a:ln>
              <a:noFill/>
            </a:ln>
          </p:spPr>
        </p:sp>
        <p:sp>
          <p:nvSpPr>
            <p:cNvPr id="30" name="Freeform 30"/>
            <p:cNvSpPr/>
            <p:nvPr/>
          </p:nvSpPr>
          <p:spPr>
            <a:xfrm>
              <a:off x="8074819" y="3705225"/>
              <a:ext cx="214312" cy="190500"/>
            </a:xfrm>
            <a:custGeom>
              <a:avLst/>
              <a:gdLst/>
              <a:ahLst/>
              <a:cxnLst/>
              <a:rect l="l" t="t" r="r" b="b"/>
              <a:pathLst>
                <a:path w="214312" h="190500">
                  <a:moveTo>
                    <a:pt x="0" y="95250"/>
                  </a:moveTo>
                  <a:lnTo>
                    <a:pt x="47625" y="95250"/>
                  </a:lnTo>
                  <a:lnTo>
                    <a:pt x="83344" y="190500"/>
                  </a:lnTo>
                  <a:lnTo>
                    <a:pt x="130969" y="0"/>
                  </a:lnTo>
                  <a:lnTo>
                    <a:pt x="166688" y="95250"/>
                  </a:lnTo>
                  <a:lnTo>
                    <a:pt x="214312" y="95250"/>
                  </a:lnTo>
                </a:path>
              </a:pathLst>
            </a:custGeom>
            <a:noFill/>
            <a:ln w="19050">
              <a:solidFill>
                <a:srgbClr val="D08A24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458200" y="3686175"/>
              <a:ext cx="10882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运行可观测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462962" y="4002881"/>
              <a:ext cx="396656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health / metrics 输出模型加载、队列、平均延迟和 P95。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648575" y="4743450"/>
              <a:ext cx="171450" cy="171450"/>
            </a:xfrm>
            <a:prstGeom prst="ellipse">
              <a:avLst/>
            </a:prstGeom>
            <a:solidFill>
              <a:srgbClr val="B64342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8074819" y="4655344"/>
              <a:ext cx="214313" cy="214313"/>
              <a:chOff x="8074819" y="4655344"/>
              <a:chExt cx="214313" cy="214313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8074819" y="4655344"/>
                <a:ext cx="166688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166688">
                    <a:moveTo>
                      <a:pt x="0" y="83344"/>
                    </a:moveTo>
                    <a:cubicBezTo>
                      <a:pt x="0" y="129373"/>
                      <a:pt x="37314" y="166688"/>
                      <a:pt x="83344" y="166688"/>
                    </a:cubicBezTo>
                    <a:cubicBezTo>
                      <a:pt x="129373" y="166688"/>
                      <a:pt x="166688" y="129373"/>
                      <a:pt x="166688" y="83344"/>
                    </a:cubicBezTo>
                    <a:cubicBezTo>
                      <a:pt x="166688" y="37314"/>
                      <a:pt x="129373" y="0"/>
                      <a:pt x="83344" y="0"/>
                    </a:cubicBezTo>
                    <a:cubicBezTo>
                      <a:pt x="37314" y="0"/>
                      <a:pt x="0" y="37314"/>
                      <a:pt x="0" y="83344"/>
                    </a:cubicBezTo>
                  </a:path>
                </a:pathLst>
              </a:custGeom>
              <a:noFill/>
              <a:ln w="19050">
                <a:solidFill>
                  <a:srgbClr val="B64342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217694" y="4798219"/>
                <a:ext cx="71438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71438">
                    <a:moveTo>
                      <a:pt x="71438" y="71438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B64342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8458200" y="4648200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历史检索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462962" y="4964906"/>
              <a:ext cx="34790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按关键词、日期、类别和来源筛选病例与批量任务。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495300" y="4514850"/>
            <a:ext cx="6769893" cy="819150"/>
            <a:chOff x="495300" y="4514850"/>
            <a:chExt cx="6769893" cy="819150"/>
          </a:xfrm>
        </p:grpSpPr>
        <p:sp>
          <p:nvSpPr>
            <p:cNvPr id="40" name="Rectangle 40"/>
            <p:cNvSpPr/>
            <p:nvPr/>
          </p:nvSpPr>
          <p:spPr>
            <a:xfrm>
              <a:off x="495300" y="4514850"/>
              <a:ext cx="6667500" cy="819150"/>
            </a:xfrm>
            <a:prstGeom prst="roundRect">
              <a:avLst>
                <a:gd name="adj" fmla="val 9302"/>
              </a:avLst>
            </a:prstGeom>
            <a:solidFill>
              <a:srgbClr val="1F2933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78192" y="4690586"/>
              <a:ext cx="2217587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验收视角的核心判断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85812" y="5041106"/>
              <a:ext cx="647938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DCEDEA"/>
                  </a:solidFill>
                  <a:latin typeface="Arial"/>
                  <a:ea typeface="Microsoft YaHei"/>
                  <a:cs typeface="Arial"/>
                </a:rPr>
                <a:t>模型方法、临床解释、权限审计和运维监控已经进入同一条工作流，而不是停留在离线推理脚本。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484822" y="6406991"/>
            <a:ext cx="11222355" cy="167640"/>
            <a:chOff x="484822" y="6406991"/>
            <a:chExt cx="11222355" cy="167640"/>
          </a:xfrm>
        </p:grpSpPr>
        <p:sp>
          <p:nvSpPr>
            <p:cNvPr id="44" name="TextBox 44"/>
            <p:cNvSpPr txBox="1"/>
            <p:nvPr/>
          </p:nvSpPr>
          <p:spPr>
            <a:xfrm>
              <a:off x="484822" y="6406991"/>
              <a:ext cx="387143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System loop derived from README, backend services and frontend pages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317676" y="6406991"/>
              <a:ext cx="38950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04 / 04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39" grpId="0"/>
      <p:bldP spid="43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2026-06-10T14:43:12Z</dcterms:created>
  <dcterms:modified xsi:type="dcterms:W3CDTF">2026-06-10T14:43:12Z</dcterms:modified>
  <cp:category/>
  <cp:contentStatus/>
</cp:coreProperties>
</file>